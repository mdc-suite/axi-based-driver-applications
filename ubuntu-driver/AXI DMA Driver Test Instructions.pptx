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14"/>
  </p:notesMasterIdLst>
  <p:sldIdLst>
    <p:sldId id="256" r:id="rId2"/>
    <p:sldId id="263" r:id="rId3"/>
    <p:sldId id="257" r:id="rId4"/>
    <p:sldId id="270" r:id="rId5"/>
    <p:sldId id="258" r:id="rId6"/>
    <p:sldId id="259" r:id="rId7"/>
    <p:sldId id="271" r:id="rId8"/>
    <p:sldId id="260" r:id="rId9"/>
    <p:sldId id="261" r:id="rId10"/>
    <p:sldId id="272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99" autoAdjust="0"/>
    <p:restoredTop sz="94660"/>
  </p:normalViewPr>
  <p:slideViewPr>
    <p:cSldViewPr snapToGrid="0">
      <p:cViewPr varScale="1">
        <p:scale>
          <a:sx n="89" d="100"/>
          <a:sy n="89" d="100"/>
        </p:scale>
        <p:origin x="72" y="11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82BFA-5A5D-44C4-90E7-9E9BC34BA458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3BD9F-1625-4330-A034-FF41683B09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594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By Giuseppe Satta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29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 brief system </a:t>
            </a:r>
            <a:r>
              <a:rPr lang="it-IT" dirty="0" err="1"/>
              <a:t>overview</a:t>
            </a:r>
            <a:r>
              <a:rPr lang="it-IT" dirty="0"/>
              <a:t>. Device drivers </a:t>
            </a:r>
            <a:r>
              <a:rPr lang="it-IT" dirty="0" err="1"/>
              <a:t>provide</a:t>
            </a:r>
            <a:r>
              <a:rPr lang="it-IT" dirty="0"/>
              <a:t> a </a:t>
            </a:r>
            <a:r>
              <a:rPr lang="it-IT" dirty="0" err="1"/>
              <a:t>means</a:t>
            </a:r>
            <a:r>
              <a:rPr lang="it-IT" dirty="0"/>
              <a:t> of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hardware (FPGA in </a:t>
            </a:r>
            <a:r>
              <a:rPr lang="it-IT" dirty="0" err="1"/>
              <a:t>this</a:t>
            </a:r>
            <a:r>
              <a:rPr lang="it-IT" dirty="0"/>
              <a:t> case) and the </a:t>
            </a:r>
            <a:r>
              <a:rPr lang="it-IT" dirty="0" err="1"/>
              <a:t>rest</a:t>
            </a:r>
            <a:r>
              <a:rPr lang="it-IT" dirty="0"/>
              <a:t> of the system.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0303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The font </a:t>
            </a:r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the </a:t>
            </a:r>
            <a:r>
              <a:rPr lang="it-IT" dirty="0" err="1"/>
              <a:t>puTTY</a:t>
            </a:r>
            <a:r>
              <a:rPr lang="it-IT" dirty="0"/>
              <a:t> </a:t>
            </a:r>
            <a:r>
              <a:rPr lang="it-IT" dirty="0" err="1"/>
              <a:t>program’s</a:t>
            </a:r>
            <a:r>
              <a:rPr lang="it-IT" dirty="0"/>
              <a:t> default font for the console window 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be </a:t>
            </a:r>
            <a:r>
              <a:rPr lang="it-IT" dirty="0" err="1"/>
              <a:t>present</a:t>
            </a:r>
            <a:r>
              <a:rPr lang="it-IT" dirty="0"/>
              <a:t> in </a:t>
            </a:r>
            <a:r>
              <a:rPr lang="it-IT" dirty="0" err="1"/>
              <a:t>your</a:t>
            </a:r>
            <a:r>
              <a:rPr lang="it-IT" dirty="0"/>
              <a:t> system, or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named</a:t>
            </a:r>
            <a:r>
              <a:rPr lang="it-IT" dirty="0"/>
              <a:t> </a:t>
            </a:r>
            <a:r>
              <a:rPr lang="it-IT" dirty="0" err="1"/>
              <a:t>differently</a:t>
            </a:r>
            <a:r>
              <a:rPr lang="it-IT" dirty="0"/>
              <a:t>. </a:t>
            </a:r>
            <a:r>
              <a:rPr lang="it-IT" dirty="0" err="1"/>
              <a:t>Continuing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changing</a:t>
            </a:r>
            <a:r>
              <a:rPr lang="it-IT" dirty="0"/>
              <a:t> the font </a:t>
            </a:r>
            <a:r>
              <a:rPr lang="it-IT" dirty="0" err="1"/>
              <a:t>results</a:t>
            </a:r>
            <a:r>
              <a:rPr lang="it-IT" dirty="0"/>
              <a:t> in the console window </a:t>
            </a:r>
            <a:r>
              <a:rPr lang="it-IT" dirty="0" err="1"/>
              <a:t>returning</a:t>
            </a:r>
            <a:r>
              <a:rPr lang="it-IT" dirty="0"/>
              <a:t> an </a:t>
            </a:r>
            <a:r>
              <a:rPr lang="it-IT" dirty="0" err="1"/>
              <a:t>error</a:t>
            </a:r>
            <a:r>
              <a:rPr lang="it-IT" dirty="0"/>
              <a:t> and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usable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667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u="sng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580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Lines 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italics</a:t>
            </a:r>
            <a:r>
              <a:rPr lang="it-IT" dirty="0"/>
              <a:t> and </a:t>
            </a:r>
            <a:r>
              <a:rPr lang="it-IT" dirty="0" err="1"/>
              <a:t>bold</a:t>
            </a:r>
            <a:r>
              <a:rPr lang="it-IT" dirty="0"/>
              <a:t> are Linux Shell </a:t>
            </a:r>
            <a:r>
              <a:rPr lang="it-IT" dirty="0" err="1"/>
              <a:t>commands</a:t>
            </a:r>
            <a:r>
              <a:rPr lang="it-IT" dirty="0"/>
              <a:t>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3852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This</a:t>
            </a:r>
            <a:r>
              <a:rPr lang="it-IT" dirty="0"/>
              <a:t> test </a:t>
            </a:r>
            <a:r>
              <a:rPr lang="it-IT" dirty="0" err="1"/>
              <a:t>verifies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connect</a:t>
            </a:r>
            <a:r>
              <a:rPr lang="it-IT" dirty="0"/>
              <a:t> </a:t>
            </a:r>
            <a:r>
              <a:rPr lang="it-IT" dirty="0" err="1"/>
              <a:t>successfully</a:t>
            </a:r>
            <a:r>
              <a:rPr lang="it-IT" dirty="0"/>
              <a:t> to the board and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installed</a:t>
            </a:r>
            <a:r>
              <a:rPr lang="it-IT" dirty="0"/>
              <a:t> the Ubuntu </a:t>
            </a:r>
            <a:r>
              <a:rPr lang="it-IT" dirty="0" err="1"/>
              <a:t>operating</a:t>
            </a:r>
            <a:r>
              <a:rPr lang="it-IT" dirty="0"/>
              <a:t> system (</a:t>
            </a:r>
            <a:r>
              <a:rPr lang="it-IT" dirty="0" err="1"/>
              <a:t>henceforth</a:t>
            </a:r>
            <a:r>
              <a:rPr lang="it-IT" dirty="0"/>
              <a:t> </a:t>
            </a:r>
            <a:r>
              <a:rPr lang="it-IT" dirty="0" err="1"/>
              <a:t>called</a:t>
            </a:r>
            <a:r>
              <a:rPr lang="it-IT" dirty="0"/>
              <a:t> OS) </a:t>
            </a:r>
            <a:r>
              <a:rPr lang="it-IT" dirty="0" err="1"/>
              <a:t>correctly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1729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By default, after the login </a:t>
            </a:r>
            <a:r>
              <a:rPr lang="it-IT" dirty="0" err="1"/>
              <a:t>operation</a:t>
            </a:r>
            <a:r>
              <a:rPr lang="it-IT" dirty="0"/>
              <a:t> the system puts the shell inside the directory ‘/home/[username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login]’.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1308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mentioned</a:t>
            </a:r>
            <a:r>
              <a:rPr lang="it-IT" dirty="0"/>
              <a:t> </a:t>
            </a:r>
            <a:r>
              <a:rPr lang="it-IT" dirty="0" err="1"/>
              <a:t>earlier</a:t>
            </a:r>
            <a:r>
              <a:rPr lang="it-IT" dirty="0"/>
              <a:t>, lines 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italics</a:t>
            </a:r>
            <a:r>
              <a:rPr lang="it-IT" dirty="0"/>
              <a:t> and </a:t>
            </a:r>
            <a:r>
              <a:rPr lang="it-IT" dirty="0" err="1"/>
              <a:t>bold</a:t>
            </a:r>
            <a:r>
              <a:rPr lang="it-IT" dirty="0"/>
              <a:t> are Shell </a:t>
            </a:r>
            <a:r>
              <a:rPr lang="it-IT" dirty="0" err="1"/>
              <a:t>commands</a:t>
            </a:r>
            <a:r>
              <a:rPr lang="it-IT" dirty="0"/>
              <a:t>. 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recommended</a:t>
            </a:r>
            <a:r>
              <a:rPr lang="it-IT" dirty="0"/>
              <a:t> to set up some form of FTP software,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makes </a:t>
            </a:r>
            <a:r>
              <a:rPr lang="it-IT" dirty="0" err="1"/>
              <a:t>transfering</a:t>
            </a:r>
            <a:r>
              <a:rPr lang="it-IT" dirty="0"/>
              <a:t> files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 </a:t>
            </a:r>
            <a:r>
              <a:rPr lang="it-IT" dirty="0" err="1"/>
              <a:t>tedious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111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to </a:t>
            </a:r>
            <a:r>
              <a:rPr lang="it-IT" dirty="0" err="1"/>
              <a:t>adjust</a:t>
            </a:r>
            <a:r>
              <a:rPr lang="it-IT" dirty="0"/>
              <a:t> the driver to work for a </a:t>
            </a:r>
            <a:r>
              <a:rPr lang="it-IT" dirty="0" err="1"/>
              <a:t>generic</a:t>
            </a:r>
            <a:r>
              <a:rPr lang="it-IT" dirty="0"/>
              <a:t> FPGA </a:t>
            </a:r>
            <a:r>
              <a:rPr lang="it-IT" dirty="0" err="1"/>
              <a:t>interface</a:t>
            </a:r>
            <a:r>
              <a:rPr lang="it-IT" dirty="0"/>
              <a:t> by </a:t>
            </a:r>
            <a:r>
              <a:rPr lang="it-IT" dirty="0" err="1"/>
              <a:t>tweaking</a:t>
            </a:r>
            <a:r>
              <a:rPr lang="it-IT" dirty="0"/>
              <a:t> the </a:t>
            </a:r>
            <a:r>
              <a:rPr lang="it-IT" dirty="0" err="1"/>
              <a:t>functions</a:t>
            </a:r>
            <a:r>
              <a:rPr lang="it-IT" dirty="0"/>
              <a:t> and the device-</a:t>
            </a:r>
            <a:r>
              <a:rPr lang="it-IT" dirty="0" err="1"/>
              <a:t>tree</a:t>
            </a:r>
            <a:r>
              <a:rPr lang="it-IT" dirty="0"/>
              <a:t>,</a:t>
            </a:r>
            <a:r>
              <a:rPr lang="en-US" dirty="0"/>
              <a:t> but implementing it would imply more limited kernel side control of the hardware, or direct control of the hardware from </a:t>
            </a:r>
            <a:r>
              <a:rPr lang="en-US" dirty="0" err="1"/>
              <a:t>userspace</a:t>
            </a:r>
            <a:r>
              <a:rPr lang="en-US" dirty="0"/>
              <a:t> using pointers to PL addresses, increasing the risk of runtime errors and crashes. </a:t>
            </a:r>
          </a:p>
          <a:p>
            <a:r>
              <a:rPr lang="en-US" dirty="0"/>
              <a:t>In most cases, a driver specialized to the PL interface in use is preferable.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1640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hardware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the device-</a:t>
            </a:r>
            <a:r>
              <a:rPr lang="it-IT" dirty="0" err="1"/>
              <a:t>tree</a:t>
            </a:r>
            <a:r>
              <a:rPr lang="it-IT" dirty="0"/>
              <a:t> overlay </a:t>
            </a:r>
            <a:r>
              <a:rPr lang="it-IT" dirty="0" err="1"/>
              <a:t>has</a:t>
            </a:r>
            <a:r>
              <a:rPr lang="it-IT" dirty="0"/>
              <a:t> to be </a:t>
            </a:r>
            <a:r>
              <a:rPr lang="it-IT" dirty="0" err="1"/>
              <a:t>changed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 in </a:t>
            </a:r>
            <a:r>
              <a:rPr lang="it-IT" dirty="0" err="1"/>
              <a:t>order</a:t>
            </a:r>
            <a:r>
              <a:rPr lang="it-IT" dirty="0"/>
              <a:t> to match </a:t>
            </a:r>
            <a:r>
              <a:rPr lang="it-IT" dirty="0" err="1"/>
              <a:t>it</a:t>
            </a:r>
            <a:r>
              <a:rPr lang="it-IT" dirty="0"/>
              <a:t>, </a:t>
            </a:r>
            <a:r>
              <a:rPr lang="it-IT" dirty="0" err="1"/>
              <a:t>instructions</a:t>
            </a:r>
            <a:r>
              <a:rPr lang="it-IT" dirty="0"/>
              <a:t> are in the repository README.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/>
              <a:t>Vivado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recommended</a:t>
            </a:r>
            <a:r>
              <a:rPr lang="it-IT" dirty="0"/>
              <a:t> tool to use for hardware </a:t>
            </a:r>
            <a:r>
              <a:rPr lang="it-IT" dirty="0" err="1"/>
              <a:t>development</a:t>
            </a:r>
            <a:r>
              <a:rPr lang="it-IT" dirty="0"/>
              <a:t> for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kind</a:t>
            </a:r>
            <a:r>
              <a:rPr lang="it-IT" dirty="0"/>
              <a:t> of AMD/</a:t>
            </a:r>
            <a:r>
              <a:rPr lang="it-IT" dirty="0" err="1"/>
              <a:t>Xilinx</a:t>
            </a:r>
            <a:r>
              <a:rPr lang="it-IT" dirty="0"/>
              <a:t> </a:t>
            </a:r>
            <a:r>
              <a:rPr lang="it-IT" dirty="0" err="1"/>
              <a:t>platform</a:t>
            </a:r>
            <a:r>
              <a:rPr lang="it-IT" dirty="0"/>
              <a:t> (like the </a:t>
            </a:r>
            <a:r>
              <a:rPr lang="it-IT" dirty="0" err="1"/>
              <a:t>Kria</a:t>
            </a:r>
            <a:r>
              <a:rPr lang="it-IT" dirty="0"/>
              <a:t>).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984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animations</a:t>
            </a:r>
            <a:r>
              <a:rPr lang="it-IT" dirty="0"/>
              <a:t> </a:t>
            </a:r>
            <a:r>
              <a:rPr lang="it-IT" dirty="0" err="1"/>
              <a:t>here</a:t>
            </a:r>
            <a:r>
              <a:rPr lang="it-IT" dirty="0"/>
              <a:t> illustrate the flow of </a:t>
            </a:r>
            <a:r>
              <a:rPr lang="it-IT" dirty="0" err="1"/>
              <a:t>operations</a:t>
            </a:r>
            <a:r>
              <a:rPr lang="it-IT" dirty="0"/>
              <a:t> on the system </a:t>
            </a:r>
            <a:r>
              <a:rPr lang="it-IT" dirty="0" err="1"/>
              <a:t>diagram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the driver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(i.e. </a:t>
            </a:r>
            <a:r>
              <a:rPr lang="it-IT" dirty="0" err="1"/>
              <a:t>when</a:t>
            </a:r>
            <a:r>
              <a:rPr lang="it-IT" dirty="0"/>
              <a:t> a system call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in a </a:t>
            </a:r>
            <a:r>
              <a:rPr lang="it-IT" dirty="0" err="1"/>
              <a:t>program</a:t>
            </a:r>
            <a:r>
              <a:rPr lang="it-IT" dirty="0"/>
              <a:t>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1111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After the </a:t>
            </a:r>
            <a:r>
              <a:rPr lang="it-IT" dirty="0" err="1"/>
              <a:t>result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produced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takes the opposite </a:t>
            </a:r>
            <a:r>
              <a:rPr lang="it-IT" dirty="0" err="1"/>
              <a:t>path</a:t>
            </a:r>
            <a:r>
              <a:rPr lang="it-IT" dirty="0"/>
              <a:t> from </a:t>
            </a:r>
            <a:r>
              <a:rPr lang="it-IT" dirty="0" err="1"/>
              <a:t>earlier</a:t>
            </a:r>
            <a:r>
              <a:rPr lang="it-IT" dirty="0"/>
              <a:t>, </a:t>
            </a:r>
            <a:r>
              <a:rPr lang="it-IT" dirty="0" err="1"/>
              <a:t>going</a:t>
            </a:r>
            <a:r>
              <a:rPr lang="it-IT" dirty="0"/>
              <a:t> back up </a:t>
            </a:r>
            <a:r>
              <a:rPr lang="it-IT" dirty="0" err="1"/>
              <a:t>through</a:t>
            </a:r>
            <a:r>
              <a:rPr lang="it-IT" dirty="0"/>
              <a:t> the kernel to </a:t>
            </a:r>
            <a:r>
              <a:rPr lang="it-IT" dirty="0" err="1"/>
              <a:t>finally</a:t>
            </a:r>
            <a:r>
              <a:rPr lang="it-IT" dirty="0"/>
              <a:t> end up in </a:t>
            </a:r>
            <a:r>
              <a:rPr lang="it-IT" dirty="0" err="1"/>
              <a:t>userspace</a:t>
            </a:r>
            <a:r>
              <a:rPr lang="it-IT" dirty="0"/>
              <a:t> (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), 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requested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BD9F-1625-4330-A034-FF41683B093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4728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46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657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991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029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675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220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090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468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96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302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3687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774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7737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0539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656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706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E34AB-B73E-4B0C-8699-A3D555403971}" type="datetimeFigureOut">
              <a:rPr lang="it-IT" smtClean="0"/>
              <a:t>21/11/2025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E0F6B8-75BE-471A-AC1C-423B5F3D5A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557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download/amd#kria-k2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tty.org/index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dc-suite/AXI-based-driver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813B93-94BD-3D8D-2C5C-45718EEEB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AXI DMA Driver Test </a:t>
            </a:r>
            <a:r>
              <a:rPr lang="it-IT" dirty="0" err="1"/>
              <a:t>Instructions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F06611-8CD0-A0E7-16C4-8A22F84DA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For the </a:t>
            </a:r>
            <a:r>
              <a:rPr lang="it-IT" dirty="0" err="1"/>
              <a:t>Kria</a:t>
            </a:r>
            <a:r>
              <a:rPr lang="it-IT" dirty="0"/>
              <a:t> KV260 Vision AI Starter Kit</a:t>
            </a:r>
          </a:p>
        </p:txBody>
      </p:sp>
    </p:spTree>
    <p:extLst>
      <p:ext uri="{BB962C8B-B14F-4D97-AF65-F5344CB8AC3E}">
        <p14:creationId xmlns:p14="http://schemas.microsoft.com/office/powerpoint/2010/main" val="130636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E47B561-4322-DD55-32CE-48409E089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026928"/>
            <a:ext cx="7979477" cy="560246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D19E790-DEA0-9AE4-4F24-8546371B9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2406"/>
            <a:ext cx="8596668" cy="1320800"/>
          </a:xfrm>
        </p:spPr>
        <p:txBody>
          <a:bodyPr/>
          <a:lstStyle/>
          <a:p>
            <a:r>
              <a:rPr lang="it-IT" dirty="0" err="1"/>
              <a:t>Overview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9948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2E408D-9282-815E-19D3-2D639F93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Step 1: Set up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542CD3-88A4-3706-382F-2216F020C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0520"/>
            <a:ext cx="8596668" cy="5190330"/>
          </a:xfrm>
        </p:spPr>
        <p:txBody>
          <a:bodyPr/>
          <a:lstStyle/>
          <a:p>
            <a:r>
              <a:rPr lang="it-IT" dirty="0"/>
              <a:t>Download the Ubuntu Desktop 22.04 LTS image from the Ubuntu website: </a:t>
            </a:r>
            <a:r>
              <a:rPr lang="it-IT" dirty="0">
                <a:hlinkClick r:id="rId3"/>
              </a:rPr>
              <a:t>https://ubuntu.com/download/amd#kria-k26</a:t>
            </a:r>
            <a:r>
              <a:rPr lang="it-IT" dirty="0"/>
              <a:t> </a:t>
            </a:r>
          </a:p>
          <a:p>
            <a:r>
              <a:rPr lang="it-IT" dirty="0"/>
              <a:t>Flash the image on a micro SD card with an image flashing tool (e.g. Balena </a:t>
            </a:r>
            <a:r>
              <a:rPr lang="it-IT" dirty="0" err="1"/>
              <a:t>Etcher</a:t>
            </a:r>
            <a:r>
              <a:rPr lang="it-IT" dirty="0"/>
              <a:t>);</a:t>
            </a:r>
          </a:p>
          <a:p>
            <a:r>
              <a:rPr lang="it-IT" dirty="0"/>
              <a:t>Connect the </a:t>
            </a:r>
            <a:r>
              <a:rPr lang="it-IT" dirty="0" err="1"/>
              <a:t>Kria</a:t>
            </a:r>
            <a:r>
              <a:rPr lang="it-IT" dirty="0"/>
              <a:t> to a computer via UART</a:t>
            </a:r>
          </a:p>
          <a:p>
            <a:pPr lvl="8"/>
            <a:endParaRPr lang="it-IT" dirty="0"/>
          </a:p>
          <a:p>
            <a:pPr lvl="8"/>
            <a:r>
              <a:rPr lang="it-IT" sz="1800" dirty="0"/>
              <a:t>UART </a:t>
            </a:r>
            <a:r>
              <a:rPr lang="it-IT" sz="1800" dirty="0" err="1"/>
              <a:t>parameters</a:t>
            </a:r>
            <a:r>
              <a:rPr lang="it-IT" sz="1800" dirty="0"/>
              <a:t>: </a:t>
            </a:r>
          </a:p>
          <a:p>
            <a:pPr marL="3657600" lvl="8" indent="0">
              <a:buNone/>
            </a:pPr>
            <a:r>
              <a:rPr lang="it-IT" sz="1800" dirty="0"/>
              <a:t>Baud rate = 115200</a:t>
            </a:r>
          </a:p>
          <a:p>
            <a:pPr marL="3657600" lvl="8" indent="0">
              <a:buNone/>
            </a:pPr>
            <a:r>
              <a:rPr lang="it-IT" sz="1800" dirty="0"/>
              <a:t>Data bits = 8, Stop bits = 1</a:t>
            </a:r>
          </a:p>
          <a:p>
            <a:pPr marL="3657600" lvl="8" indent="0">
              <a:buNone/>
            </a:pPr>
            <a:r>
              <a:rPr lang="it-IT" sz="1800" dirty="0" err="1"/>
              <a:t>Parity</a:t>
            </a:r>
            <a:r>
              <a:rPr lang="it-IT" sz="1800" dirty="0"/>
              <a:t> = None</a:t>
            </a:r>
          </a:p>
          <a:p>
            <a:pPr marL="3657600" lvl="8" indent="0">
              <a:buNone/>
            </a:pPr>
            <a:r>
              <a:rPr lang="it-IT" sz="1800" dirty="0" err="1"/>
              <a:t>If</a:t>
            </a:r>
            <a:r>
              <a:rPr lang="it-IT" sz="1800" dirty="0"/>
              <a:t> </a:t>
            </a:r>
            <a:r>
              <a:rPr lang="it-IT" sz="1800" dirty="0" err="1"/>
              <a:t>using</a:t>
            </a:r>
            <a:r>
              <a:rPr lang="it-IT" sz="1800" dirty="0"/>
              <a:t> </a:t>
            </a:r>
            <a:r>
              <a:rPr lang="it-IT" sz="1800" dirty="0" err="1"/>
              <a:t>PuTTY</a:t>
            </a:r>
            <a:r>
              <a:rPr lang="it-IT" sz="1800" dirty="0"/>
              <a:t>, </a:t>
            </a:r>
            <a:r>
              <a:rPr lang="it-IT" sz="1800" dirty="0" err="1"/>
              <a:t>change</a:t>
            </a:r>
            <a:r>
              <a:rPr lang="it-IT" sz="1800" dirty="0"/>
              <a:t> the</a:t>
            </a:r>
          </a:p>
          <a:p>
            <a:pPr marL="3657600" lvl="8" indent="0">
              <a:buNone/>
            </a:pPr>
            <a:r>
              <a:rPr lang="it-IT" sz="1800" dirty="0"/>
              <a:t>font (in </a:t>
            </a:r>
            <a:r>
              <a:rPr lang="it-IT" sz="1800" i="1" dirty="0"/>
              <a:t>Window -&gt; </a:t>
            </a:r>
            <a:r>
              <a:rPr lang="it-IT" sz="1800" i="1" u="sng" dirty="0" err="1"/>
              <a:t>Appearance</a:t>
            </a:r>
            <a:r>
              <a:rPr lang="it-IT" sz="1800" dirty="0"/>
              <a:t>)</a:t>
            </a:r>
          </a:p>
          <a:p>
            <a:pPr lvl="7"/>
            <a:endParaRPr lang="it-IT" dirty="0"/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A6FD3DF-FF71-1C64-B532-BC1BC7929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147" y="3398039"/>
            <a:ext cx="2605158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6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3DC94-52B4-7EED-1364-5CE152BC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E6FF28C0-0A1A-B8B5-75DA-87A92F1D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25" y="1119794"/>
            <a:ext cx="6223531" cy="436960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2F35B52-7873-2572-9825-177B553504FE}"/>
              </a:ext>
            </a:extLst>
          </p:cNvPr>
          <p:cNvSpPr txBox="1"/>
          <p:nvPr/>
        </p:nvSpPr>
        <p:spPr>
          <a:xfrm>
            <a:off x="7429501" y="3105031"/>
            <a:ext cx="2843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Ubuntu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installed</a:t>
            </a:r>
            <a:endParaRPr lang="it-IT" dirty="0"/>
          </a:p>
        </p:txBody>
      </p:sp>
      <p:sp>
        <p:nvSpPr>
          <p:cNvPr id="22" name="Parentesi graffa chiusa 21">
            <a:extLst>
              <a:ext uri="{FF2B5EF4-FFF2-40B4-BE49-F238E27FC236}">
                <a16:creationId xmlns:a16="http://schemas.microsoft.com/office/drawing/2014/main" id="{20283A25-4ACD-77B3-990A-407CD9EF395C}"/>
              </a:ext>
            </a:extLst>
          </p:cNvPr>
          <p:cNvSpPr/>
          <p:nvPr/>
        </p:nvSpPr>
        <p:spPr>
          <a:xfrm>
            <a:off x="6707982" y="2157413"/>
            <a:ext cx="507206" cy="2264568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0CE2238B-7E3E-E4BF-1571-4CBBE9CE9A37}"/>
              </a:ext>
            </a:extLst>
          </p:cNvPr>
          <p:cNvSpPr/>
          <p:nvPr/>
        </p:nvSpPr>
        <p:spPr>
          <a:xfrm>
            <a:off x="7429501" y="2966531"/>
            <a:ext cx="214312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Ubuntu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installed</a:t>
            </a:r>
            <a:endParaRPr lang="it-IT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153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1826DE-49F5-6224-786B-F1A73400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PuTTY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D496D6-63A7-5B2F-3B6A-7D7E9297A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9067"/>
            <a:ext cx="9295342" cy="3880773"/>
          </a:xfrm>
        </p:spPr>
        <p:txBody>
          <a:bodyPr/>
          <a:lstStyle/>
          <a:p>
            <a:r>
              <a:rPr lang="it-IT" dirty="0"/>
              <a:t>Download </a:t>
            </a:r>
            <a:r>
              <a:rPr lang="it-IT" dirty="0" err="1"/>
              <a:t>PuTTY</a:t>
            </a:r>
            <a:r>
              <a:rPr lang="it-IT" dirty="0"/>
              <a:t>: </a:t>
            </a:r>
            <a:r>
              <a:rPr lang="it-IT" dirty="0">
                <a:hlinkClick r:id="rId3"/>
              </a:rPr>
              <a:t>https://putty.org/index.html</a:t>
            </a:r>
            <a:r>
              <a:rPr lang="it-IT" dirty="0"/>
              <a:t> (on </a:t>
            </a:r>
            <a:r>
              <a:rPr lang="it-IT" dirty="0" err="1"/>
              <a:t>ubuntu</a:t>
            </a:r>
            <a:r>
              <a:rPr lang="it-IT" dirty="0"/>
              <a:t>: </a:t>
            </a:r>
            <a:r>
              <a:rPr lang="it-IT" b="1" i="1" dirty="0"/>
              <a:t>sudo </a:t>
            </a:r>
            <a:r>
              <a:rPr lang="it-IT" b="1" i="1" dirty="0" err="1"/>
              <a:t>apt</a:t>
            </a:r>
            <a:r>
              <a:rPr lang="it-IT" b="1" i="1" dirty="0"/>
              <a:t> </a:t>
            </a:r>
            <a:r>
              <a:rPr lang="it-IT" b="1" i="1" dirty="0" err="1"/>
              <a:t>install</a:t>
            </a:r>
            <a:r>
              <a:rPr lang="it-IT" b="1" i="1" dirty="0"/>
              <a:t> </a:t>
            </a:r>
            <a:r>
              <a:rPr lang="it-IT" b="1" i="1" dirty="0" err="1"/>
              <a:t>putty</a:t>
            </a:r>
            <a:r>
              <a:rPr lang="it-IT" dirty="0"/>
              <a:t>);</a:t>
            </a:r>
          </a:p>
          <a:p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and set up the connection with the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shown</a:t>
            </a:r>
            <a:r>
              <a:rPr lang="it-IT" dirty="0"/>
              <a:t> </a:t>
            </a:r>
            <a:r>
              <a:rPr lang="it-IT" dirty="0" err="1"/>
              <a:t>earlier</a:t>
            </a:r>
            <a:r>
              <a:rPr lang="it-IT" dirty="0"/>
              <a:t>;</a:t>
            </a:r>
          </a:p>
          <a:p>
            <a:r>
              <a:rPr lang="it-IT" dirty="0"/>
              <a:t>To </a:t>
            </a:r>
            <a:r>
              <a:rPr lang="it-IT" dirty="0" err="1"/>
              <a:t>find</a:t>
            </a:r>
            <a:r>
              <a:rPr lang="it-IT" dirty="0"/>
              <a:t> the COM port </a:t>
            </a:r>
            <a:r>
              <a:rPr lang="it-IT" dirty="0" err="1"/>
              <a:t>you</a:t>
            </a:r>
            <a:r>
              <a:rPr lang="it-IT" dirty="0"/>
              <a:t> can go to the </a:t>
            </a:r>
            <a:r>
              <a:rPr lang="it-IT" i="1" dirty="0" err="1"/>
              <a:t>Manage</a:t>
            </a:r>
            <a:r>
              <a:rPr lang="it-IT" i="1" dirty="0"/>
              <a:t> Devices </a:t>
            </a:r>
            <a:r>
              <a:rPr lang="it-IT" dirty="0"/>
              <a:t>tab in the Control Panel (on </a:t>
            </a:r>
            <a:r>
              <a:rPr lang="it-IT" dirty="0" err="1"/>
              <a:t>ubuntu</a:t>
            </a:r>
            <a:r>
              <a:rPr lang="it-IT" dirty="0"/>
              <a:t>: </a:t>
            </a:r>
            <a:r>
              <a:rPr lang="it-IT" b="1" i="1" dirty="0" err="1"/>
              <a:t>ls</a:t>
            </a:r>
            <a:r>
              <a:rPr lang="it-IT" b="1" i="1" dirty="0"/>
              <a:t> /</a:t>
            </a:r>
            <a:r>
              <a:rPr lang="it-IT" b="1" i="1" dirty="0" err="1"/>
              <a:t>dev</a:t>
            </a:r>
            <a:r>
              <a:rPr lang="it-IT" b="1" i="1" dirty="0"/>
              <a:t> | </a:t>
            </a:r>
            <a:r>
              <a:rPr lang="it-IT" b="1" i="1" dirty="0" err="1"/>
              <a:t>grep</a:t>
            </a:r>
            <a:r>
              <a:rPr lang="it-IT" b="1" i="1" dirty="0"/>
              <a:t> </a:t>
            </a:r>
            <a:r>
              <a:rPr lang="it-IT" b="1" i="1" dirty="0" err="1"/>
              <a:t>tty</a:t>
            </a:r>
            <a:r>
              <a:rPr lang="it-IT" i="1" dirty="0"/>
              <a:t> </a:t>
            </a:r>
            <a:r>
              <a:rPr lang="it-IT" dirty="0"/>
              <a:t>OR </a:t>
            </a:r>
            <a:r>
              <a:rPr lang="it-IT" b="1" i="1" dirty="0" err="1"/>
              <a:t>ls</a:t>
            </a:r>
            <a:r>
              <a:rPr lang="it-IT" b="1" i="1" dirty="0"/>
              <a:t> /</a:t>
            </a:r>
            <a:r>
              <a:rPr lang="it-IT" b="1" i="1" dirty="0" err="1"/>
              <a:t>dev</a:t>
            </a:r>
            <a:r>
              <a:rPr lang="it-IT" b="1" i="1" dirty="0"/>
              <a:t> | </a:t>
            </a:r>
            <a:r>
              <a:rPr lang="it-IT" b="1" i="1" dirty="0" err="1"/>
              <a:t>grep</a:t>
            </a:r>
            <a:r>
              <a:rPr lang="it-IT" b="1" i="1" dirty="0"/>
              <a:t> USB </a:t>
            </a:r>
            <a:r>
              <a:rPr lang="it-IT" dirty="0"/>
              <a:t>)</a:t>
            </a:r>
          </a:p>
          <a:p>
            <a:endParaRPr lang="it-IT" i="1" dirty="0"/>
          </a:p>
          <a:p>
            <a:endParaRPr lang="it-IT" i="1" dirty="0"/>
          </a:p>
          <a:p>
            <a:endParaRPr lang="it-IT" i="1" dirty="0"/>
          </a:p>
          <a:p>
            <a:endParaRPr lang="it-IT" i="1" dirty="0"/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37BB3D7-EBD7-3437-6069-DABD6F97F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537" y="3170015"/>
            <a:ext cx="2181038" cy="322897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556C24-7091-5FC2-54D3-58597851C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353" y="2911031"/>
            <a:ext cx="3746943" cy="37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31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E3C221-533E-18EB-CCD9-AC9E5994B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dirty="0"/>
              <a:t>Step 2: </a:t>
            </a:r>
            <a:r>
              <a:rPr lang="it-IT" dirty="0" err="1"/>
              <a:t>Kria</a:t>
            </a:r>
            <a:r>
              <a:rPr lang="it-IT" dirty="0"/>
              <a:t> connection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70DE1A-8E9B-377C-F9FF-A95F9EB05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500" dirty="0"/>
              <a:t>Once the </a:t>
            </a:r>
            <a:r>
              <a:rPr lang="it-IT" sz="1500" dirty="0" err="1"/>
              <a:t>PuTTY</a:t>
            </a:r>
            <a:r>
              <a:rPr lang="it-IT" sz="1500" dirty="0"/>
              <a:t> connection starts up </a:t>
            </a:r>
            <a:r>
              <a:rPr lang="it-IT" sz="1500" dirty="0" err="1"/>
              <a:t>successfully</a:t>
            </a:r>
            <a:r>
              <a:rPr lang="it-IT" sz="1500" dirty="0"/>
              <a:t>, </a:t>
            </a:r>
            <a:r>
              <a:rPr lang="it-IT" sz="1500" dirty="0" err="1"/>
              <a:t>connect</a:t>
            </a:r>
            <a:r>
              <a:rPr lang="it-IT" sz="1500" dirty="0"/>
              <a:t> the </a:t>
            </a:r>
            <a:r>
              <a:rPr lang="it-IT" sz="1500" dirty="0" err="1"/>
              <a:t>Kria’s</a:t>
            </a:r>
            <a:r>
              <a:rPr lang="it-IT" sz="1500" dirty="0"/>
              <a:t> power cable. The </a:t>
            </a:r>
            <a:r>
              <a:rPr lang="it-IT" sz="1500" dirty="0" err="1"/>
              <a:t>PuTTY</a:t>
            </a:r>
            <a:r>
              <a:rPr lang="it-IT" sz="1500" dirty="0"/>
              <a:t> window </a:t>
            </a:r>
            <a:r>
              <a:rPr lang="it-IT" sz="1500" dirty="0" err="1"/>
              <a:t>should</a:t>
            </a:r>
            <a:r>
              <a:rPr lang="it-IT" sz="1500" dirty="0"/>
              <a:t> start </a:t>
            </a:r>
            <a:r>
              <a:rPr lang="it-IT" sz="1500" dirty="0" err="1"/>
              <a:t>showing</a:t>
            </a:r>
            <a:r>
              <a:rPr lang="it-IT" sz="1500" dirty="0"/>
              <a:t> some text; </a:t>
            </a:r>
          </a:p>
          <a:p>
            <a:pPr>
              <a:lnSpc>
                <a:spcPct val="90000"/>
              </a:lnSpc>
            </a:pPr>
            <a:r>
              <a:rPr lang="it-IT" sz="1500" dirty="0"/>
              <a:t>After the boot up </a:t>
            </a:r>
            <a:r>
              <a:rPr lang="it-IT" sz="1500" dirty="0" err="1"/>
              <a:t>is</a:t>
            </a:r>
            <a:r>
              <a:rPr lang="it-IT" sz="1500" dirty="0"/>
              <a:t> complete, </a:t>
            </a:r>
            <a:r>
              <a:rPr lang="it-IT" sz="1500" dirty="0" err="1"/>
              <a:t>you</a:t>
            </a:r>
            <a:r>
              <a:rPr lang="it-IT" sz="1500" dirty="0"/>
              <a:t> </a:t>
            </a:r>
            <a:r>
              <a:rPr lang="it-IT" sz="1500" dirty="0" err="1"/>
              <a:t>will</a:t>
            </a:r>
            <a:r>
              <a:rPr lang="it-IT" sz="1500" dirty="0"/>
              <a:t> </a:t>
            </a:r>
            <a:r>
              <a:rPr lang="it-IT" sz="1500" dirty="0" err="1"/>
              <a:t>need</a:t>
            </a:r>
            <a:r>
              <a:rPr lang="it-IT" sz="1500" dirty="0"/>
              <a:t> to set a username and password (</a:t>
            </a:r>
            <a:r>
              <a:rPr lang="it-IT" sz="1500" dirty="0" err="1"/>
              <a:t>recommendation</a:t>
            </a:r>
            <a:r>
              <a:rPr lang="it-IT" sz="1500" dirty="0"/>
              <a:t> </a:t>
            </a:r>
            <a:r>
              <a:rPr lang="it-IT" sz="1500" dirty="0" err="1"/>
              <a:t>is</a:t>
            </a:r>
            <a:r>
              <a:rPr lang="it-IT" sz="1500" dirty="0"/>
              <a:t> the </a:t>
            </a:r>
            <a:r>
              <a:rPr lang="it-IT" sz="1500" dirty="0" err="1"/>
              <a:t>same</a:t>
            </a:r>
            <a:r>
              <a:rPr lang="it-IT" sz="1500" dirty="0"/>
              <a:t> </a:t>
            </a:r>
            <a:r>
              <a:rPr lang="it-IT" sz="1500" dirty="0" err="1"/>
              <a:t>thing</a:t>
            </a:r>
            <a:r>
              <a:rPr lang="it-IT" sz="1500" dirty="0"/>
              <a:t> for </a:t>
            </a:r>
            <a:r>
              <a:rPr lang="it-IT" sz="1500" dirty="0" err="1"/>
              <a:t>both</a:t>
            </a:r>
            <a:r>
              <a:rPr lang="it-IT" sz="1500" dirty="0"/>
              <a:t>, </a:t>
            </a:r>
            <a:r>
              <a:rPr lang="it-IT" sz="1500" dirty="0" err="1"/>
              <a:t>forgetting</a:t>
            </a:r>
            <a:r>
              <a:rPr lang="it-IT" sz="1500" dirty="0"/>
              <a:t> the password </a:t>
            </a:r>
            <a:r>
              <a:rPr lang="it-IT" sz="1500" dirty="0" err="1"/>
              <a:t>is</a:t>
            </a:r>
            <a:r>
              <a:rPr lang="it-IT" sz="1500" dirty="0"/>
              <a:t> </a:t>
            </a:r>
            <a:r>
              <a:rPr lang="it-IT" sz="1500" dirty="0" err="1"/>
              <a:t>bad</a:t>
            </a:r>
            <a:r>
              <a:rPr lang="it-IT" sz="1500" dirty="0"/>
              <a:t>!);</a:t>
            </a:r>
          </a:p>
          <a:p>
            <a:pPr>
              <a:lnSpc>
                <a:spcPct val="90000"/>
              </a:lnSpc>
            </a:pPr>
            <a:r>
              <a:rPr lang="it-IT" sz="1500" dirty="0"/>
              <a:t>Once </a:t>
            </a:r>
            <a:r>
              <a:rPr lang="it-IT" sz="1500" dirty="0" err="1"/>
              <a:t>logged</a:t>
            </a:r>
            <a:r>
              <a:rPr lang="it-IT" sz="1500" dirty="0"/>
              <a:t> in, </a:t>
            </a:r>
            <a:r>
              <a:rPr lang="it-IT" sz="1500" dirty="0" err="1"/>
              <a:t>it’s</a:t>
            </a:r>
            <a:r>
              <a:rPr lang="it-IT" sz="1500" dirty="0"/>
              <a:t> </a:t>
            </a:r>
            <a:r>
              <a:rPr lang="it-IT" sz="1500" dirty="0" err="1"/>
              <a:t>strongly</a:t>
            </a:r>
            <a:r>
              <a:rPr lang="it-IT" sz="1500" dirty="0"/>
              <a:t> </a:t>
            </a:r>
            <a:r>
              <a:rPr lang="it-IT" sz="1500" dirty="0" err="1"/>
              <a:t>recommended</a:t>
            </a:r>
            <a:r>
              <a:rPr lang="it-IT" sz="1500" dirty="0"/>
              <a:t> to </a:t>
            </a:r>
            <a:r>
              <a:rPr lang="it-IT" sz="1500" dirty="0" err="1"/>
              <a:t>connect</a:t>
            </a:r>
            <a:r>
              <a:rPr lang="it-IT" sz="1500" dirty="0"/>
              <a:t> the </a:t>
            </a:r>
            <a:r>
              <a:rPr lang="it-IT" sz="1500" dirty="0" err="1"/>
              <a:t>Kria</a:t>
            </a:r>
            <a:r>
              <a:rPr lang="it-IT" sz="1500" dirty="0"/>
              <a:t> to the internet via ethernet, </a:t>
            </a:r>
            <a:r>
              <a:rPr lang="it-IT" sz="1500" dirty="0" err="1"/>
              <a:t>it</a:t>
            </a:r>
            <a:r>
              <a:rPr lang="it-IT" sz="1500" dirty="0"/>
              <a:t> </a:t>
            </a:r>
            <a:r>
              <a:rPr lang="it-IT" sz="1500" dirty="0" err="1"/>
              <a:t>will</a:t>
            </a:r>
            <a:r>
              <a:rPr lang="it-IT" sz="1500" dirty="0"/>
              <a:t> make </a:t>
            </a:r>
            <a:r>
              <a:rPr lang="it-IT" sz="1500" dirty="0" err="1"/>
              <a:t>uploading</a:t>
            </a:r>
            <a:r>
              <a:rPr lang="it-IT" sz="1500" dirty="0"/>
              <a:t> files to </a:t>
            </a:r>
            <a:r>
              <a:rPr lang="it-IT" sz="1500" dirty="0" err="1"/>
              <a:t>it</a:t>
            </a:r>
            <a:r>
              <a:rPr lang="it-IT" sz="1500" dirty="0"/>
              <a:t> </a:t>
            </a:r>
            <a:r>
              <a:rPr lang="it-IT" sz="1500" dirty="0" err="1"/>
              <a:t>much</a:t>
            </a:r>
            <a:r>
              <a:rPr lang="it-IT" sz="1500" dirty="0"/>
              <a:t> </a:t>
            </a:r>
            <a:r>
              <a:rPr lang="it-IT" sz="1500" dirty="0" err="1"/>
              <a:t>less</a:t>
            </a:r>
            <a:r>
              <a:rPr lang="it-IT" sz="1500" dirty="0"/>
              <a:t> time </a:t>
            </a:r>
            <a:r>
              <a:rPr lang="it-IT" sz="1500" dirty="0" err="1"/>
              <a:t>consuming</a:t>
            </a:r>
            <a:r>
              <a:rPr lang="it-IT" sz="1500" dirty="0"/>
              <a:t> (good for </a:t>
            </a:r>
            <a:r>
              <a:rPr lang="it-IT" sz="1500" dirty="0" err="1"/>
              <a:t>repeated</a:t>
            </a:r>
            <a:r>
              <a:rPr lang="it-IT" sz="1500" dirty="0"/>
              <a:t> </a:t>
            </a:r>
            <a:r>
              <a:rPr lang="it-IT" sz="1500" dirty="0" err="1"/>
              <a:t>tests</a:t>
            </a:r>
            <a:r>
              <a:rPr lang="it-IT" sz="1500" dirty="0"/>
              <a:t>!);</a:t>
            </a:r>
          </a:p>
          <a:p>
            <a:pPr>
              <a:lnSpc>
                <a:spcPct val="90000"/>
              </a:lnSpc>
            </a:pPr>
            <a:r>
              <a:rPr lang="it-IT" sz="1500" dirty="0" err="1"/>
              <a:t>If</a:t>
            </a:r>
            <a:r>
              <a:rPr lang="it-IT" sz="1500" dirty="0"/>
              <a:t> </a:t>
            </a:r>
            <a:r>
              <a:rPr lang="it-IT" sz="1500" dirty="0" err="1"/>
              <a:t>you</a:t>
            </a:r>
            <a:r>
              <a:rPr lang="it-IT" sz="1500" dirty="0"/>
              <a:t> </a:t>
            </a:r>
            <a:r>
              <a:rPr lang="it-IT" sz="1500" dirty="0" err="1"/>
              <a:t>connect</a:t>
            </a:r>
            <a:r>
              <a:rPr lang="it-IT" sz="1500" dirty="0"/>
              <a:t> to the internet, </a:t>
            </a:r>
            <a:r>
              <a:rPr lang="it-IT" sz="1500" dirty="0" err="1"/>
              <a:t>you</a:t>
            </a:r>
            <a:r>
              <a:rPr lang="it-IT" sz="1500" dirty="0"/>
              <a:t> can </a:t>
            </a:r>
            <a:r>
              <a:rPr lang="it-IT" sz="1500" dirty="0" err="1"/>
              <a:t>find</a:t>
            </a:r>
            <a:r>
              <a:rPr lang="it-IT" sz="1500" dirty="0"/>
              <a:t> out </a:t>
            </a:r>
            <a:r>
              <a:rPr lang="it-IT" sz="1500" dirty="0" err="1"/>
              <a:t>your</a:t>
            </a:r>
            <a:r>
              <a:rPr lang="it-IT" sz="1500" dirty="0"/>
              <a:t> IP </a:t>
            </a:r>
            <a:r>
              <a:rPr lang="it-IT" sz="1500" dirty="0" err="1"/>
              <a:t>address</a:t>
            </a:r>
            <a:r>
              <a:rPr lang="it-IT" sz="1500" dirty="0"/>
              <a:t> via </a:t>
            </a:r>
            <a:r>
              <a:rPr lang="it-IT" sz="1500" b="1" i="1" dirty="0" err="1"/>
              <a:t>ifconfig</a:t>
            </a:r>
            <a:r>
              <a:rPr lang="it-IT" sz="1500" b="1" i="1" dirty="0"/>
              <a:t> </a:t>
            </a:r>
            <a:r>
              <a:rPr lang="it-IT" sz="1500" i="1" dirty="0"/>
              <a:t>;</a:t>
            </a:r>
          </a:p>
          <a:p>
            <a:pPr>
              <a:lnSpc>
                <a:spcPct val="90000"/>
              </a:lnSpc>
            </a:pPr>
            <a:r>
              <a:rPr lang="it-IT" sz="1500" dirty="0"/>
              <a:t>The </a:t>
            </a:r>
            <a:r>
              <a:rPr lang="it-IT" sz="1500" dirty="0" err="1"/>
              <a:t>Kria’s</a:t>
            </a:r>
            <a:r>
              <a:rPr lang="it-IT" sz="1500" dirty="0"/>
              <a:t> IP </a:t>
            </a:r>
            <a:r>
              <a:rPr lang="it-IT" sz="1500" dirty="0" err="1"/>
              <a:t>address</a:t>
            </a:r>
            <a:r>
              <a:rPr lang="it-IT" sz="1500" dirty="0"/>
              <a:t> can be </a:t>
            </a:r>
            <a:r>
              <a:rPr lang="it-IT" sz="1500" dirty="0" err="1"/>
              <a:t>used</a:t>
            </a:r>
            <a:r>
              <a:rPr lang="it-IT" sz="1500" dirty="0"/>
              <a:t> to </a:t>
            </a:r>
            <a:r>
              <a:rPr lang="it-IT" sz="1500" dirty="0" err="1"/>
              <a:t>connect</a:t>
            </a:r>
            <a:r>
              <a:rPr lang="it-IT" sz="1500" dirty="0"/>
              <a:t> with </a:t>
            </a:r>
            <a:r>
              <a:rPr lang="it-IT" sz="1500" dirty="0" err="1"/>
              <a:t>PuTTY</a:t>
            </a:r>
            <a:r>
              <a:rPr lang="it-IT" sz="1500" dirty="0"/>
              <a:t> via Ethernet </a:t>
            </a:r>
            <a:r>
              <a:rPr lang="it-IT" sz="1500" dirty="0" err="1"/>
              <a:t>as</a:t>
            </a:r>
            <a:r>
              <a:rPr lang="it-IT" sz="1500" dirty="0"/>
              <a:t> </a:t>
            </a:r>
            <a:r>
              <a:rPr lang="it-IT" sz="1500" dirty="0" err="1"/>
              <a:t>well</a:t>
            </a:r>
            <a:r>
              <a:rPr lang="it-IT" sz="1500" dirty="0"/>
              <a:t>, </a:t>
            </a:r>
            <a:r>
              <a:rPr lang="it-IT" sz="1500" dirty="0" err="1"/>
              <a:t>as</a:t>
            </a:r>
            <a:r>
              <a:rPr lang="it-IT" sz="1500" dirty="0"/>
              <a:t> </a:t>
            </a:r>
            <a:r>
              <a:rPr lang="it-IT" sz="1500" dirty="0" err="1"/>
              <a:t>it’s</a:t>
            </a:r>
            <a:r>
              <a:rPr lang="it-IT" sz="1500" dirty="0"/>
              <a:t> a more </a:t>
            </a:r>
            <a:r>
              <a:rPr lang="it-IT" sz="1500" dirty="0" err="1"/>
              <a:t>stable</a:t>
            </a:r>
            <a:r>
              <a:rPr lang="it-IT" sz="1500" dirty="0"/>
              <a:t> connection </a:t>
            </a:r>
            <a:r>
              <a:rPr lang="it-IT" sz="1500" dirty="0" err="1"/>
              <a:t>than</a:t>
            </a:r>
            <a:r>
              <a:rPr lang="it-IT" sz="1500" dirty="0"/>
              <a:t> </a:t>
            </a:r>
            <a:r>
              <a:rPr lang="it-IT" sz="1500" dirty="0" err="1"/>
              <a:t>using</a:t>
            </a:r>
            <a:r>
              <a:rPr lang="it-IT" sz="1500" dirty="0"/>
              <a:t> UART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4A0395B-BB1A-076C-E89C-988DDCECF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417" y="2159000"/>
            <a:ext cx="3145536" cy="368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87C7-5D7B-F66D-B31D-39346502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186A425-2FDE-3133-A821-BE1A95B0A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41" y="855478"/>
            <a:ext cx="7287954" cy="511694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9E9B658-3D5B-FF93-9B0E-8CD941FF1F66}"/>
              </a:ext>
            </a:extLst>
          </p:cNvPr>
          <p:cNvSpPr txBox="1"/>
          <p:nvPr/>
        </p:nvSpPr>
        <p:spPr>
          <a:xfrm>
            <a:off x="8015288" y="2243138"/>
            <a:ext cx="1728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After login, </a:t>
            </a:r>
            <a:r>
              <a:rPr lang="it-IT" dirty="0" err="1"/>
              <a:t>we</a:t>
            </a:r>
            <a:r>
              <a:rPr lang="it-IT" dirty="0"/>
              <a:t> are </a:t>
            </a:r>
            <a:r>
              <a:rPr lang="it-IT" dirty="0" err="1"/>
              <a:t>here</a:t>
            </a:r>
            <a:endParaRPr lang="it-IT" dirty="0"/>
          </a:p>
        </p:txBody>
      </p: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C5D3D2D4-C8E2-F055-958F-D7E38DB52E5A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7797405" y="1160860"/>
            <a:ext cx="1007269" cy="115728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F90FCD08-CEFD-FD63-1F48-89569ED59BCC}"/>
              </a:ext>
            </a:extLst>
          </p:cNvPr>
          <p:cNvSpPr/>
          <p:nvPr/>
        </p:nvSpPr>
        <p:spPr>
          <a:xfrm>
            <a:off x="8015288" y="2243137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After login,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are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</a:t>
            </a:r>
            <a:endParaRPr lang="it-IT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7278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51DF73-0194-88AB-ADC8-F7F91EE9F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Step 3: File transfer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EE37D2-440B-AFAB-8948-C4555764B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9083"/>
            <a:ext cx="8596668" cy="52189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To transfer files to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Kria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are </a:t>
            </a:r>
            <a:r>
              <a:rPr lang="it-IT" dirty="0" err="1"/>
              <a:t>two</a:t>
            </a:r>
            <a:r>
              <a:rPr lang="it-IT" dirty="0"/>
              <a:t> options:</a:t>
            </a:r>
          </a:p>
          <a:p>
            <a:r>
              <a:rPr lang="it-IT" dirty="0"/>
              <a:t>FTP </a:t>
            </a:r>
            <a:r>
              <a:rPr lang="it-IT" dirty="0" err="1"/>
              <a:t>allows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to transfer files </a:t>
            </a:r>
            <a:r>
              <a:rPr lang="it-IT" dirty="0" err="1"/>
              <a:t>quickly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requires</a:t>
            </a:r>
            <a:r>
              <a:rPr lang="it-IT" dirty="0"/>
              <a:t> the </a:t>
            </a:r>
            <a:r>
              <a:rPr lang="it-IT" dirty="0" err="1"/>
              <a:t>Kria</a:t>
            </a:r>
            <a:r>
              <a:rPr lang="it-IT" dirty="0"/>
              <a:t> to be </a:t>
            </a:r>
            <a:r>
              <a:rPr lang="it-IT" dirty="0" err="1"/>
              <a:t>connected</a:t>
            </a:r>
            <a:r>
              <a:rPr lang="it-IT" dirty="0"/>
              <a:t> to the internet and </a:t>
            </a:r>
            <a:r>
              <a:rPr lang="it-IT" dirty="0" err="1"/>
              <a:t>third</a:t>
            </a:r>
            <a:r>
              <a:rPr lang="it-IT" dirty="0"/>
              <a:t> party software for FTP (e.g. </a:t>
            </a:r>
            <a:r>
              <a:rPr lang="it-IT" dirty="0" err="1"/>
              <a:t>Filezilla</a:t>
            </a:r>
            <a:r>
              <a:rPr lang="it-IT" dirty="0"/>
              <a:t>);</a:t>
            </a:r>
          </a:p>
          <a:p>
            <a:r>
              <a:rPr lang="it-IT" dirty="0"/>
              <a:t>Manual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slower</a:t>
            </a:r>
            <a:r>
              <a:rPr lang="it-IT" dirty="0"/>
              <a:t>, </a:t>
            </a:r>
            <a:r>
              <a:rPr lang="it-IT" dirty="0" err="1"/>
              <a:t>requires</a:t>
            </a:r>
            <a:r>
              <a:rPr lang="it-IT" dirty="0"/>
              <a:t> a way to work with ext4 file systems (Windows </a:t>
            </a:r>
            <a:r>
              <a:rPr lang="it-IT" dirty="0" err="1"/>
              <a:t>can’t</a:t>
            </a:r>
            <a:r>
              <a:rPr lang="it-IT" dirty="0"/>
              <a:t> </a:t>
            </a:r>
            <a:r>
              <a:rPr lang="it-IT" dirty="0" err="1"/>
              <a:t>interact</a:t>
            </a:r>
            <a:r>
              <a:rPr lang="it-IT" dirty="0"/>
              <a:t> with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easily</a:t>
            </a:r>
            <a:r>
              <a:rPr lang="it-IT" dirty="0"/>
              <a:t>, so </a:t>
            </a:r>
            <a:r>
              <a:rPr lang="it-IT" dirty="0" err="1"/>
              <a:t>it’s</a:t>
            </a:r>
            <a:r>
              <a:rPr lang="it-IT" dirty="0"/>
              <a:t> </a:t>
            </a:r>
            <a:r>
              <a:rPr lang="it-IT" dirty="0" err="1"/>
              <a:t>recommended</a:t>
            </a:r>
            <a:r>
              <a:rPr lang="it-IT" dirty="0"/>
              <a:t> to set up a Ubuntu dual boot on </a:t>
            </a:r>
            <a:r>
              <a:rPr lang="it-IT" dirty="0" err="1"/>
              <a:t>your</a:t>
            </a:r>
            <a:r>
              <a:rPr lang="it-IT" dirty="0"/>
              <a:t> PC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Windows) and a micro SD to USB </a:t>
            </a:r>
            <a:r>
              <a:rPr lang="it-IT" dirty="0" err="1"/>
              <a:t>adapter</a:t>
            </a:r>
            <a:r>
              <a:rPr lang="it-IT" dirty="0"/>
              <a:t> (or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way to </a:t>
            </a:r>
            <a:r>
              <a:rPr lang="it-IT" dirty="0" err="1"/>
              <a:t>insert</a:t>
            </a:r>
            <a:r>
              <a:rPr lang="it-IT" dirty="0"/>
              <a:t> the SD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PC),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doesn’t</a:t>
            </a:r>
            <a:r>
              <a:rPr lang="it-IT" dirty="0"/>
              <a:t> </a:t>
            </a:r>
            <a:r>
              <a:rPr lang="it-IT" dirty="0" err="1"/>
              <a:t>require</a:t>
            </a:r>
            <a:r>
              <a:rPr lang="it-IT" dirty="0"/>
              <a:t> an internet connection.</a:t>
            </a:r>
          </a:p>
          <a:p>
            <a:pPr marL="0" indent="0">
              <a:buNone/>
            </a:pPr>
            <a:r>
              <a:rPr lang="it-IT" dirty="0"/>
              <a:t>Using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of </a:t>
            </a:r>
            <a:r>
              <a:rPr lang="it-IT" dirty="0" err="1"/>
              <a:t>choice</a:t>
            </a:r>
            <a:r>
              <a:rPr lang="it-IT" dirty="0"/>
              <a:t>, upload the </a:t>
            </a:r>
            <a:r>
              <a:rPr lang="it-IT" dirty="0" err="1"/>
              <a:t>github</a:t>
            </a:r>
            <a:r>
              <a:rPr lang="it-IT" dirty="0"/>
              <a:t> repository on the </a:t>
            </a:r>
            <a:r>
              <a:rPr lang="it-IT" dirty="0" err="1"/>
              <a:t>Kria</a:t>
            </a:r>
            <a:r>
              <a:rPr lang="it-IT" dirty="0"/>
              <a:t> (or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/>
              <a:t>sudo </a:t>
            </a:r>
            <a:r>
              <a:rPr lang="it-IT" b="1" i="1" dirty="0" err="1"/>
              <a:t>apt</a:t>
            </a:r>
            <a:r>
              <a:rPr lang="it-IT" b="1" i="1" dirty="0"/>
              <a:t> </a:t>
            </a:r>
            <a:r>
              <a:rPr lang="it-IT" b="1" i="1" dirty="0" err="1"/>
              <a:t>install</a:t>
            </a:r>
            <a:r>
              <a:rPr lang="it-IT" b="1" i="1" dirty="0"/>
              <a:t> </a:t>
            </a:r>
            <a:r>
              <a:rPr lang="it-IT" b="1" i="1" dirty="0" err="1"/>
              <a:t>git</a:t>
            </a:r>
            <a:r>
              <a:rPr lang="it-IT" i="1" dirty="0"/>
              <a:t> </a:t>
            </a:r>
            <a:r>
              <a:rPr lang="it-IT" dirty="0"/>
              <a:t>and </a:t>
            </a:r>
            <a:r>
              <a:rPr lang="it-IT" b="1" i="1" dirty="0" err="1"/>
              <a:t>git</a:t>
            </a:r>
            <a:r>
              <a:rPr lang="it-IT" b="1" i="1" dirty="0"/>
              <a:t> clone </a:t>
            </a:r>
            <a:r>
              <a:rPr lang="it-IT" b="1" i="1" dirty="0">
                <a:hlinkClick r:id="rId3"/>
              </a:rPr>
              <a:t>https://github.com/mdc-suite/AXI-based-drivers</a:t>
            </a:r>
            <a:r>
              <a:rPr lang="it-IT" i="1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internet access);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Remember</a:t>
            </a:r>
            <a:r>
              <a:rPr lang="it-IT" dirty="0"/>
              <a:t> to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/>
              <a:t>sudo </a:t>
            </a:r>
            <a:r>
              <a:rPr lang="it-IT" b="1" i="1" dirty="0" err="1"/>
              <a:t>bash</a:t>
            </a:r>
            <a:r>
              <a:rPr lang="it-IT" b="1" i="1" dirty="0"/>
              <a:t> install_libs.sh</a:t>
            </a:r>
            <a:r>
              <a:rPr lang="it-IT" i="1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 to </a:t>
            </a:r>
            <a:r>
              <a:rPr lang="it-IT" dirty="0" err="1"/>
              <a:t>install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necessary</a:t>
            </a:r>
            <a:r>
              <a:rPr lang="it-IT" dirty="0"/>
              <a:t> tools for </a:t>
            </a:r>
            <a:r>
              <a:rPr lang="it-IT" dirty="0" err="1"/>
              <a:t>development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479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017E31-56C2-EB90-55DB-80F4284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Step 4: Driver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3BBF31-5C6B-675F-DA7B-7F588719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38" y="1364457"/>
            <a:ext cx="8889564" cy="4676906"/>
          </a:xfrm>
        </p:spPr>
        <p:txBody>
          <a:bodyPr/>
          <a:lstStyle/>
          <a:p>
            <a:r>
              <a:rPr lang="it-IT" dirty="0"/>
              <a:t>On the </a:t>
            </a:r>
            <a:r>
              <a:rPr lang="it-IT" dirty="0" err="1"/>
              <a:t>Kria</a:t>
            </a:r>
            <a:r>
              <a:rPr lang="it-IT" dirty="0"/>
              <a:t>, navigate to the </a:t>
            </a:r>
            <a:r>
              <a:rPr lang="it-IT" i="1" dirty="0" err="1"/>
              <a:t>axidma</a:t>
            </a:r>
            <a:r>
              <a:rPr lang="it-IT" i="1" dirty="0"/>
              <a:t>-driver </a:t>
            </a:r>
            <a:r>
              <a:rPr lang="it-IT" dirty="0"/>
              <a:t>folder;</a:t>
            </a:r>
          </a:p>
          <a:p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/>
              <a:t>make</a:t>
            </a:r>
            <a:r>
              <a:rPr lang="it-IT" i="1" dirty="0"/>
              <a:t> </a:t>
            </a:r>
            <a:r>
              <a:rPr lang="it-IT" dirty="0"/>
              <a:t>to compile the driver;</a:t>
            </a:r>
          </a:p>
          <a:p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i="1" dirty="0"/>
              <a:t>sudo </a:t>
            </a:r>
            <a:r>
              <a:rPr lang="it-IT" b="1" i="1" dirty="0" err="1"/>
              <a:t>insmod</a:t>
            </a:r>
            <a:r>
              <a:rPr lang="it-IT" b="1" i="1" dirty="0"/>
              <a:t> </a:t>
            </a:r>
            <a:r>
              <a:rPr lang="it-IT" b="1" i="1" dirty="0" err="1"/>
              <a:t>axidma.ko</a:t>
            </a:r>
            <a:r>
              <a:rPr lang="it-IT" b="1" i="1" dirty="0"/>
              <a:t> </a:t>
            </a:r>
            <a:r>
              <a:rPr lang="it-IT" dirty="0"/>
              <a:t>to </a:t>
            </a:r>
            <a:r>
              <a:rPr lang="it-IT" dirty="0" err="1"/>
              <a:t>insert</a:t>
            </a:r>
            <a:r>
              <a:rPr lang="it-IT" dirty="0"/>
              <a:t> the driver </a:t>
            </a:r>
            <a:r>
              <a:rPr lang="it-IT" dirty="0" err="1"/>
              <a:t>into</a:t>
            </a:r>
            <a:r>
              <a:rPr lang="it-IT" dirty="0"/>
              <a:t> the kernel;</a:t>
            </a:r>
          </a:p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/>
              <a:t>sudo </a:t>
            </a:r>
            <a:r>
              <a:rPr lang="it-IT" b="1" i="1" dirty="0" err="1"/>
              <a:t>dmesg</a:t>
            </a:r>
            <a:r>
              <a:rPr lang="it-IT" b="1" i="1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the driver </a:t>
            </a:r>
            <a:r>
              <a:rPr lang="it-IT" dirty="0" err="1"/>
              <a:t>insertion</a:t>
            </a:r>
            <a:r>
              <a:rPr lang="it-IT" dirty="0"/>
              <a:t> logs;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EF3CF6B-EE5A-EBCF-488A-65BA17A4F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228975"/>
            <a:ext cx="4896289" cy="343773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6969764-3ADE-7749-81E9-7E369E9092DA}"/>
              </a:ext>
            </a:extLst>
          </p:cNvPr>
          <p:cNvSpPr txBox="1"/>
          <p:nvPr/>
        </p:nvSpPr>
        <p:spPr>
          <a:xfrm>
            <a:off x="6436518" y="3781208"/>
            <a:ext cx="185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Driver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inserted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it-IT" dirty="0"/>
          </a:p>
        </p:txBody>
      </p: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9F2BCD0F-B64E-0949-8E15-E6BD3D8D4FB0}"/>
              </a:ext>
            </a:extLst>
          </p:cNvPr>
          <p:cNvCxnSpPr>
            <a:stCxn id="6" idx="2"/>
          </p:cNvCxnSpPr>
          <p:nvPr/>
        </p:nvCxnSpPr>
        <p:spPr>
          <a:xfrm rot="5400000">
            <a:off x="5394525" y="3640734"/>
            <a:ext cx="1180305" cy="275391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E7BD416B-FAC6-EE0C-38B8-7E5BAB1CBC47}"/>
              </a:ext>
            </a:extLst>
          </p:cNvPr>
          <p:cNvSpPr/>
          <p:nvPr/>
        </p:nvSpPr>
        <p:spPr>
          <a:xfrm>
            <a:off x="6497239" y="3770715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Driver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inserted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</a:t>
            </a:r>
            <a:endParaRPr lang="it-IT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911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1077-9FE1-B3A1-6A85-918F4807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FC2A61-CE68-5D51-746E-61432212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Step 4: Driver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4541E4-F545-EDDD-331B-8715368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38" y="1364457"/>
            <a:ext cx="8889564" cy="4676906"/>
          </a:xfrm>
        </p:spPr>
        <p:txBody>
          <a:bodyPr/>
          <a:lstStyle/>
          <a:p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/>
              <a:t>sudo </a:t>
            </a:r>
            <a:r>
              <a:rPr lang="it-IT" b="1" i="1" dirty="0" err="1"/>
              <a:t>fpgautil</a:t>
            </a:r>
            <a:r>
              <a:rPr lang="it-IT" b="1" i="1" dirty="0"/>
              <a:t> –b aes256_dma.bin</a:t>
            </a:r>
            <a:r>
              <a:rPr lang="it-IT" dirty="0"/>
              <a:t> to load the bitstream;</a:t>
            </a:r>
          </a:p>
          <a:p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 err="1"/>
              <a:t>dtc</a:t>
            </a:r>
            <a:r>
              <a:rPr lang="it-IT" b="1" i="1" dirty="0"/>
              <a:t> –i </a:t>
            </a:r>
            <a:r>
              <a:rPr lang="it-IT" b="1" i="1" dirty="0" err="1"/>
              <a:t>pl.dtsi</a:t>
            </a:r>
            <a:r>
              <a:rPr lang="it-IT" b="1" i="1" dirty="0"/>
              <a:t> –o </a:t>
            </a:r>
            <a:r>
              <a:rPr lang="it-IT" b="1" i="1" dirty="0" err="1"/>
              <a:t>pl.dtbo</a:t>
            </a:r>
            <a:r>
              <a:rPr lang="it-IT" b="1" i="1" dirty="0"/>
              <a:t> -@ </a:t>
            </a:r>
            <a:r>
              <a:rPr lang="it-IT" dirty="0"/>
              <a:t>to compile the device-</a:t>
            </a:r>
            <a:r>
              <a:rPr lang="it-IT" dirty="0" err="1"/>
              <a:t>tree</a:t>
            </a:r>
            <a:r>
              <a:rPr lang="it-IT" dirty="0"/>
              <a:t> overlay;</a:t>
            </a:r>
          </a:p>
          <a:p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/>
              <a:t>sudo </a:t>
            </a:r>
            <a:r>
              <a:rPr lang="it-IT" b="1" i="1" dirty="0" err="1"/>
              <a:t>fpgautil</a:t>
            </a:r>
            <a:r>
              <a:rPr lang="it-IT" b="1" i="1" dirty="0"/>
              <a:t> –o </a:t>
            </a:r>
            <a:r>
              <a:rPr lang="it-IT" b="1" i="1" dirty="0" err="1"/>
              <a:t>pl.dtbo</a:t>
            </a:r>
            <a:r>
              <a:rPr lang="it-IT" b="1" dirty="0"/>
              <a:t> </a:t>
            </a:r>
            <a:r>
              <a:rPr lang="it-IT" dirty="0"/>
              <a:t>to </a:t>
            </a:r>
            <a:r>
              <a:rPr lang="it-IT" dirty="0" err="1"/>
              <a:t>insert</a:t>
            </a:r>
            <a:r>
              <a:rPr lang="it-IT" dirty="0"/>
              <a:t> the overlay;</a:t>
            </a:r>
          </a:p>
          <a:p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b="1" i="1" dirty="0"/>
              <a:t>sudo </a:t>
            </a:r>
            <a:r>
              <a:rPr lang="it-IT" b="1" i="1" dirty="0" err="1"/>
              <a:t>dmesg</a:t>
            </a:r>
            <a:r>
              <a:rPr lang="it-IT" dirty="0"/>
              <a:t> </a:t>
            </a:r>
            <a:r>
              <a:rPr lang="it-IT" dirty="0" err="1"/>
              <a:t>again</a:t>
            </a:r>
            <a:r>
              <a:rPr lang="it-IT" dirty="0"/>
              <a:t>: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driver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detected</a:t>
            </a:r>
            <a:r>
              <a:rPr lang="it-IT" dirty="0"/>
              <a:t> the overlay;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5BA8F06-131B-1512-4922-955D3A3A6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228975"/>
            <a:ext cx="4896289" cy="3437732"/>
          </a:xfrm>
          <a:prstGeom prst="rect">
            <a:avLst/>
          </a:prstGeom>
        </p:spPr>
      </p:pic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EF262DB6-BF7A-B9E2-EA1F-B598FA19FA86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5852783" y="4721689"/>
            <a:ext cx="534061" cy="300989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7A14853D-19E8-F1EC-A852-FBC7ABA6585F}"/>
              </a:ext>
            </a:extLst>
          </p:cNvPr>
          <p:cNvSpPr/>
          <p:nvPr/>
        </p:nvSpPr>
        <p:spPr>
          <a:xfrm>
            <a:off x="6760368" y="5313277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Bitsream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loaded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</a:t>
            </a:r>
            <a:endParaRPr lang="it-IT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A633B13-E8F2-C6D1-0332-33C190F5DC28}"/>
              </a:ext>
            </a:extLst>
          </p:cNvPr>
          <p:cNvSpPr/>
          <p:nvPr/>
        </p:nvSpPr>
        <p:spPr>
          <a:xfrm>
            <a:off x="6760368" y="3621838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Overlay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inserted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</a:t>
            </a:r>
            <a:endParaRPr lang="it-IT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dirty="0"/>
          </a:p>
        </p:txBody>
      </p:sp>
      <p:cxnSp>
        <p:nvCxnSpPr>
          <p:cNvPr id="15" name="Connettore curvo 14">
            <a:extLst>
              <a:ext uri="{FF2B5EF4-FFF2-40B4-BE49-F238E27FC236}">
                <a16:creationId xmlns:a16="http://schemas.microsoft.com/office/drawing/2014/main" id="{06DC514F-EF37-BF50-A768-66B8B93F28C4}"/>
              </a:ext>
            </a:extLst>
          </p:cNvPr>
          <p:cNvCxnSpPr>
            <a:stCxn id="13" idx="2"/>
          </p:cNvCxnSpPr>
          <p:nvPr/>
        </p:nvCxnSpPr>
        <p:spPr>
          <a:xfrm rot="5400000">
            <a:off x="5853598" y="3029435"/>
            <a:ext cx="532431" cy="300989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032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1692E-BDED-E1D5-F56F-98A8C0C5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69A221-0463-AF36-1CE8-710323C6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8713"/>
            <a:ext cx="4387585" cy="1320800"/>
          </a:xfrm>
        </p:spPr>
        <p:txBody>
          <a:bodyPr/>
          <a:lstStyle/>
          <a:p>
            <a:r>
              <a:rPr lang="it-IT" dirty="0"/>
              <a:t>Step 4: Driver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FBC480-4256-D847-A8A0-4062136AE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38" y="832366"/>
            <a:ext cx="8889564" cy="4676906"/>
          </a:xfrm>
        </p:spPr>
        <p:txBody>
          <a:bodyPr/>
          <a:lstStyle/>
          <a:p>
            <a:r>
              <a:rPr lang="it-IT" dirty="0"/>
              <a:t>Compile </a:t>
            </a:r>
            <a:r>
              <a:rPr lang="it-IT" b="1" i="1" dirty="0" err="1"/>
              <a:t>dma_test.c</a:t>
            </a:r>
            <a:r>
              <a:rPr lang="it-IT" i="1" dirty="0"/>
              <a:t> </a:t>
            </a:r>
            <a:r>
              <a:rPr lang="it-IT" dirty="0"/>
              <a:t>with </a:t>
            </a:r>
            <a:r>
              <a:rPr lang="it-IT" b="1" i="1" dirty="0" err="1"/>
              <a:t>gcc</a:t>
            </a:r>
            <a:r>
              <a:rPr lang="it-IT" b="1" i="1" dirty="0"/>
              <a:t> </a:t>
            </a:r>
            <a:r>
              <a:rPr lang="it-IT" b="1" i="1" dirty="0" err="1"/>
              <a:t>dma_test.c</a:t>
            </a:r>
            <a:r>
              <a:rPr lang="it-IT" b="1" i="1" dirty="0"/>
              <a:t> –o </a:t>
            </a:r>
            <a:r>
              <a:rPr lang="it-IT" b="1" i="1" dirty="0" err="1"/>
              <a:t>dma_test</a:t>
            </a:r>
            <a:r>
              <a:rPr lang="it-IT" b="1" i="1" dirty="0"/>
              <a:t> </a:t>
            </a:r>
            <a:r>
              <a:rPr lang="it-IT" i="1" dirty="0"/>
              <a:t>;</a:t>
            </a:r>
          </a:p>
          <a:p>
            <a:r>
              <a:rPr lang="it-IT" dirty="0" err="1"/>
              <a:t>Run</a:t>
            </a:r>
            <a:r>
              <a:rPr lang="it-IT" dirty="0"/>
              <a:t> the test with </a:t>
            </a:r>
            <a:r>
              <a:rPr lang="it-IT" b="1" i="1" dirty="0"/>
              <a:t>./</a:t>
            </a:r>
            <a:r>
              <a:rPr lang="it-IT" b="1" i="1" dirty="0" err="1"/>
              <a:t>dma_test</a:t>
            </a:r>
            <a:r>
              <a:rPr lang="it-IT" b="1" i="1" dirty="0"/>
              <a:t> ;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4F185A-DC79-4282-191A-A1707F767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25" y="1826066"/>
            <a:ext cx="6009216" cy="4219129"/>
          </a:xfrm>
          <a:prstGeom prst="rect">
            <a:avLst/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13E1559F-DCC2-9133-C9BB-9B3849728270}"/>
              </a:ext>
            </a:extLst>
          </p:cNvPr>
          <p:cNvSpPr/>
          <p:nvPr/>
        </p:nvSpPr>
        <p:spPr>
          <a:xfrm>
            <a:off x="7217567" y="325172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 </a:t>
            </a:r>
            <a:r>
              <a:rPr lang="it-IT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program</a:t>
            </a:r>
            <a:r>
              <a:rPr lang="it-IT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starts </a:t>
            </a:r>
            <a:r>
              <a:rPr lang="it-IT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</a:t>
            </a:r>
            <a:endParaRPr lang="it-IT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it-IT" dirty="0"/>
          </a:p>
        </p:txBody>
      </p:sp>
      <p:cxnSp>
        <p:nvCxnSpPr>
          <p:cNvPr id="15" name="Connettore curvo 14">
            <a:extLst>
              <a:ext uri="{FF2B5EF4-FFF2-40B4-BE49-F238E27FC236}">
                <a16:creationId xmlns:a16="http://schemas.microsoft.com/office/drawing/2014/main" id="{9EE4CC9F-082C-CEEB-6BB8-1BCF0FC67F42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6664535" y="714909"/>
            <a:ext cx="1160832" cy="16740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A70B47B5-0545-58FC-16B1-AA4876E715FA}"/>
              </a:ext>
            </a:extLst>
          </p:cNvPr>
          <p:cNvSpPr/>
          <p:nvPr/>
        </p:nvSpPr>
        <p:spPr>
          <a:xfrm>
            <a:off x="8120093" y="1455828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it-IT" b="1" i="1" dirty="0" err="1">
                <a:ln w="0"/>
                <a:solidFill>
                  <a:schemeClr val="tx1"/>
                </a:solidFill>
              </a:rPr>
              <a:t>ioctl</a:t>
            </a:r>
            <a:r>
              <a:rPr lang="it-IT" b="1" i="1" dirty="0">
                <a:ln w="0"/>
                <a:solidFill>
                  <a:schemeClr val="tx1"/>
                </a:solidFill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</a:rPr>
              <a:t>is</a:t>
            </a:r>
            <a:r>
              <a:rPr lang="it-IT" dirty="0">
                <a:ln w="0"/>
                <a:solidFill>
                  <a:schemeClr val="tx1"/>
                </a:solidFill>
              </a:rPr>
              <a:t> </a:t>
            </a:r>
            <a:r>
              <a:rPr lang="it-IT" dirty="0" err="1">
                <a:ln w="0"/>
                <a:solidFill>
                  <a:schemeClr val="tx1"/>
                </a:solidFill>
              </a:rPr>
              <a:t>called</a:t>
            </a:r>
            <a:r>
              <a:rPr lang="it-IT" b="1" i="1" dirty="0">
                <a:ln w="0"/>
                <a:solidFill>
                  <a:schemeClr val="tx1"/>
                </a:solidFill>
              </a:rPr>
              <a:t> </a:t>
            </a:r>
            <a:r>
              <a:rPr lang="it-IT" dirty="0">
                <a:ln w="0"/>
                <a:solidFill>
                  <a:schemeClr val="tx1"/>
                </a:solidFill>
              </a:rPr>
              <a:t>(system call)</a:t>
            </a:r>
            <a:endParaRPr lang="it-IT" b="1" i="1" dirty="0">
              <a:ln w="0"/>
              <a:solidFill>
                <a:schemeClr val="tx1"/>
              </a:solidFill>
            </a:endParaRPr>
          </a:p>
          <a:p>
            <a:pPr algn="ctr"/>
            <a:endParaRPr lang="it-IT" dirty="0"/>
          </a:p>
        </p:txBody>
      </p:sp>
      <p:cxnSp>
        <p:nvCxnSpPr>
          <p:cNvPr id="21" name="Connettore curvo 20">
            <a:extLst>
              <a:ext uri="{FF2B5EF4-FFF2-40B4-BE49-F238E27FC236}">
                <a16:creationId xmlns:a16="http://schemas.microsoft.com/office/drawing/2014/main" id="{5658ED4C-1C49-1523-7047-6D1047974CE9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7007984" y="387694"/>
            <a:ext cx="262039" cy="369096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curvo 23">
            <a:extLst>
              <a:ext uri="{FF2B5EF4-FFF2-40B4-BE49-F238E27FC236}">
                <a16:creationId xmlns:a16="http://schemas.microsoft.com/office/drawing/2014/main" id="{A883073D-74E7-0D38-F6C3-6FBEFDC27BCC}"/>
              </a:ext>
            </a:extLst>
          </p:cNvPr>
          <p:cNvCxnSpPr>
            <a:cxnSpLocks/>
          </p:cNvCxnSpPr>
          <p:nvPr/>
        </p:nvCxnSpPr>
        <p:spPr>
          <a:xfrm rot="5400000">
            <a:off x="4060386" y="3302444"/>
            <a:ext cx="32473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curvo 26">
            <a:extLst>
              <a:ext uri="{FF2B5EF4-FFF2-40B4-BE49-F238E27FC236}">
                <a16:creationId xmlns:a16="http://schemas.microsoft.com/office/drawing/2014/main" id="{78A561D5-E68A-5B6A-867A-414C6D10BF1C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222081" y="2885988"/>
            <a:ext cx="2898012" cy="74971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Rettangolo 31">
            <a:extLst>
              <a:ext uri="{FF2B5EF4-FFF2-40B4-BE49-F238E27FC236}">
                <a16:creationId xmlns:a16="http://schemas.microsoft.com/office/drawing/2014/main" id="{0CD6F5A9-4BFA-A6A6-1139-07E7B57A8391}"/>
              </a:ext>
            </a:extLst>
          </p:cNvPr>
          <p:cNvSpPr/>
          <p:nvPr/>
        </p:nvSpPr>
        <p:spPr>
          <a:xfrm>
            <a:off x="8120093" y="2562822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i="1" dirty="0">
              <a:ln w="0"/>
              <a:solidFill>
                <a:schemeClr val="tx1"/>
              </a:solidFill>
            </a:endParaRPr>
          </a:p>
          <a:p>
            <a:pPr algn="ctr"/>
            <a:r>
              <a:rPr lang="it-IT" dirty="0">
                <a:ln w="0"/>
                <a:solidFill>
                  <a:schemeClr val="tx1"/>
                </a:solidFill>
              </a:rPr>
              <a:t>Kernel </a:t>
            </a:r>
            <a:r>
              <a:rPr lang="it-IT" dirty="0" err="1">
                <a:ln w="0"/>
                <a:solidFill>
                  <a:schemeClr val="tx1"/>
                </a:solidFill>
              </a:rPr>
              <a:t>sees</a:t>
            </a:r>
            <a:r>
              <a:rPr lang="it-IT" dirty="0">
                <a:ln w="0"/>
                <a:solidFill>
                  <a:schemeClr val="tx1"/>
                </a:solidFill>
              </a:rPr>
              <a:t> system </a:t>
            </a:r>
            <a:r>
              <a:rPr lang="it-IT" u="sng" dirty="0">
                <a:ln w="0"/>
                <a:solidFill>
                  <a:schemeClr val="tx1"/>
                </a:solidFill>
              </a:rPr>
              <a:t>call</a:t>
            </a:r>
          </a:p>
          <a:p>
            <a:pPr algn="ctr"/>
            <a:endParaRPr lang="it-IT" dirty="0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5FF42CA8-ADAD-77A8-52C7-9B28A7EB9FDA}"/>
              </a:ext>
            </a:extLst>
          </p:cNvPr>
          <p:cNvSpPr/>
          <p:nvPr/>
        </p:nvSpPr>
        <p:spPr>
          <a:xfrm>
            <a:off x="8114364" y="3716347"/>
            <a:ext cx="17287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it-IT" dirty="0">
                <a:ln w="0"/>
                <a:solidFill>
                  <a:schemeClr val="tx1"/>
                </a:solidFill>
              </a:rPr>
              <a:t>Call </a:t>
            </a:r>
            <a:r>
              <a:rPr lang="it-IT" dirty="0" err="1">
                <a:ln w="0"/>
                <a:solidFill>
                  <a:schemeClr val="tx1"/>
                </a:solidFill>
              </a:rPr>
              <a:t>is</a:t>
            </a:r>
            <a:r>
              <a:rPr lang="it-IT" dirty="0">
                <a:ln w="0"/>
                <a:solidFill>
                  <a:schemeClr val="tx1"/>
                </a:solidFill>
              </a:rPr>
              <a:t> for driver</a:t>
            </a:r>
          </a:p>
          <a:p>
            <a:pPr algn="ctr"/>
            <a:endParaRPr lang="it-IT" dirty="0"/>
          </a:p>
        </p:txBody>
      </p:sp>
      <p:cxnSp>
        <p:nvCxnSpPr>
          <p:cNvPr id="35" name="Connettore curvo 34">
            <a:extLst>
              <a:ext uri="{FF2B5EF4-FFF2-40B4-BE49-F238E27FC236}">
                <a16:creationId xmlns:a16="http://schemas.microsoft.com/office/drawing/2014/main" id="{63E9D4D4-B224-376A-1CC6-7E88C8CAC65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rot="5400000">
            <a:off x="8728026" y="3459886"/>
            <a:ext cx="507194" cy="57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curvo 37">
            <a:extLst>
              <a:ext uri="{FF2B5EF4-FFF2-40B4-BE49-F238E27FC236}">
                <a16:creationId xmlns:a16="http://schemas.microsoft.com/office/drawing/2014/main" id="{2669E11C-1E95-9A69-CEF4-727B9865C49E}"/>
              </a:ext>
            </a:extLst>
          </p:cNvPr>
          <p:cNvCxnSpPr>
            <a:cxnSpLocks/>
            <a:stCxn id="34" idx="1"/>
          </p:cNvCxnSpPr>
          <p:nvPr/>
        </p:nvCxnSpPr>
        <p:spPr>
          <a:xfrm rot="10800000" flipV="1">
            <a:off x="5222082" y="4039513"/>
            <a:ext cx="2892282" cy="6257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curvo 51">
            <a:extLst>
              <a:ext uri="{FF2B5EF4-FFF2-40B4-BE49-F238E27FC236}">
                <a16:creationId xmlns:a16="http://schemas.microsoft.com/office/drawing/2014/main" id="{737F05FC-5624-BE23-C73E-0E2EE7ED3DA7}"/>
              </a:ext>
            </a:extLst>
          </p:cNvPr>
          <p:cNvCxnSpPr>
            <a:cxnSpLocks/>
          </p:cNvCxnSpPr>
          <p:nvPr/>
        </p:nvCxnSpPr>
        <p:spPr>
          <a:xfrm rot="5400000">
            <a:off x="4284224" y="2654740"/>
            <a:ext cx="32473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curvo 56">
            <a:extLst>
              <a:ext uri="{FF2B5EF4-FFF2-40B4-BE49-F238E27FC236}">
                <a16:creationId xmlns:a16="http://schemas.microsoft.com/office/drawing/2014/main" id="{191C5DFD-4244-BF93-536B-037F2A45D161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5222081" y="4829178"/>
            <a:ext cx="2214562" cy="3377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" name="Rettangolo 60">
            <a:extLst>
              <a:ext uri="{FF2B5EF4-FFF2-40B4-BE49-F238E27FC236}">
                <a16:creationId xmlns:a16="http://schemas.microsoft.com/office/drawing/2014/main" id="{F21304C7-FC11-A0A5-2D13-5929334D66FA}"/>
              </a:ext>
            </a:extLst>
          </p:cNvPr>
          <p:cNvSpPr/>
          <p:nvPr/>
        </p:nvSpPr>
        <p:spPr>
          <a:xfrm>
            <a:off x="7436643" y="4685446"/>
            <a:ext cx="2250281" cy="9629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Driver </a:t>
            </a:r>
            <a:r>
              <a:rPr lang="it-IT" dirty="0" err="1">
                <a:solidFill>
                  <a:schemeClr val="tx1"/>
                </a:solidFill>
              </a:rPr>
              <a:t>executes</a:t>
            </a:r>
            <a:r>
              <a:rPr lang="it-IT" dirty="0">
                <a:solidFill>
                  <a:schemeClr val="tx1"/>
                </a:solidFill>
              </a:rPr>
              <a:t> system call, </a:t>
            </a:r>
            <a:r>
              <a:rPr lang="it-IT" dirty="0" err="1">
                <a:solidFill>
                  <a:schemeClr val="tx1"/>
                </a:solidFill>
              </a:rPr>
              <a:t>addresses</a:t>
            </a:r>
            <a:r>
              <a:rPr lang="it-IT" dirty="0">
                <a:solidFill>
                  <a:schemeClr val="tx1"/>
                </a:solidFill>
              </a:rPr>
              <a:t> hardware </a:t>
            </a:r>
          </a:p>
        </p:txBody>
      </p:sp>
      <p:cxnSp>
        <p:nvCxnSpPr>
          <p:cNvPr id="70" name="Connettore curvo 69">
            <a:extLst>
              <a:ext uri="{FF2B5EF4-FFF2-40B4-BE49-F238E27FC236}">
                <a16:creationId xmlns:a16="http://schemas.microsoft.com/office/drawing/2014/main" id="{A8A7C923-CB65-8FF5-FF1B-FEF6A702DD04}"/>
              </a:ext>
            </a:extLst>
          </p:cNvPr>
          <p:cNvCxnSpPr>
            <a:cxnSpLocks/>
            <a:stCxn id="61" idx="2"/>
          </p:cNvCxnSpPr>
          <p:nvPr/>
        </p:nvCxnSpPr>
        <p:spPr>
          <a:xfrm rot="5400000">
            <a:off x="6800118" y="4070373"/>
            <a:ext cx="183631" cy="333970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34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 animBg="1"/>
      <p:bldP spid="32" grpId="0" animBg="1"/>
      <p:bldP spid="34" grpId="0" animBg="1"/>
      <p:bldP spid="6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4999-8A21-1A3B-05C4-E73BA3124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971D7A-9463-3ECC-14AB-638EC3CD6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8713"/>
            <a:ext cx="8596668" cy="1320800"/>
          </a:xfrm>
        </p:spPr>
        <p:txBody>
          <a:bodyPr/>
          <a:lstStyle/>
          <a:p>
            <a:r>
              <a:rPr lang="it-IT" dirty="0"/>
              <a:t>Step 4: Driver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BD1FEC-DCC7-4403-BFAB-39385A08C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38" y="832366"/>
            <a:ext cx="8889564" cy="4676906"/>
          </a:xfrm>
        </p:spPr>
        <p:txBody>
          <a:bodyPr/>
          <a:lstStyle/>
          <a:p>
            <a:pPr marL="0" indent="0">
              <a:buNone/>
            </a:pPr>
            <a:r>
              <a:rPr lang="it-IT" b="1" i="1" dirty="0"/>
              <a:t>Return </a:t>
            </a:r>
            <a:r>
              <a:rPr lang="it-IT" b="1" i="1" dirty="0" err="1"/>
              <a:t>path</a:t>
            </a:r>
            <a:endParaRPr lang="it-IT" b="1" i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7093E6C-F48C-8A4C-DAB3-27B8EA33D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25" y="1826066"/>
            <a:ext cx="6009216" cy="421912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1486C8E5-4371-17FA-B47F-0B4358784872}"/>
              </a:ext>
            </a:extLst>
          </p:cNvPr>
          <p:cNvSpPr/>
          <p:nvPr/>
        </p:nvSpPr>
        <p:spPr>
          <a:xfrm>
            <a:off x="6500812" y="5699859"/>
            <a:ext cx="2250281" cy="962963"/>
          </a:xfrm>
          <a:prstGeom prst="rect">
            <a:avLst/>
          </a:prstGeom>
          <a:solidFill>
            <a:srgbClr val="E8E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Hardware </a:t>
            </a:r>
            <a:r>
              <a:rPr lang="it-IT" dirty="0" err="1">
                <a:solidFill>
                  <a:schemeClr val="tx1"/>
                </a:solidFill>
              </a:rPr>
              <a:t>executes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operation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7" name="Connettore curvo 6">
            <a:extLst>
              <a:ext uri="{FF2B5EF4-FFF2-40B4-BE49-F238E27FC236}">
                <a16:creationId xmlns:a16="http://schemas.microsoft.com/office/drawing/2014/main" id="{D2D86D8C-BF67-3F5C-014A-A8E2D3A0C619}"/>
              </a:ext>
            </a:extLst>
          </p:cNvPr>
          <p:cNvCxnSpPr>
            <a:stCxn id="5" idx="2"/>
            <a:endCxn id="4" idx="1"/>
          </p:cNvCxnSpPr>
          <p:nvPr/>
        </p:nvCxnSpPr>
        <p:spPr>
          <a:xfrm rot="16200000" flipH="1">
            <a:off x="4883999" y="4564528"/>
            <a:ext cx="136146" cy="3097479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curvo 7">
            <a:extLst>
              <a:ext uri="{FF2B5EF4-FFF2-40B4-BE49-F238E27FC236}">
                <a16:creationId xmlns:a16="http://schemas.microsoft.com/office/drawing/2014/main" id="{EA7FA27B-9E20-0AE1-FC04-F9F549C3A465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027967" y="4101872"/>
            <a:ext cx="777815" cy="2418159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id="{11EA8A22-6E27-C2F3-EB76-B9E707B74FD5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207797" y="4638755"/>
            <a:ext cx="1607341" cy="119923"/>
          </a:xfrm>
          <a:prstGeom prst="curved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ttangolo 18">
            <a:extLst>
              <a:ext uri="{FF2B5EF4-FFF2-40B4-BE49-F238E27FC236}">
                <a16:creationId xmlns:a16="http://schemas.microsoft.com/office/drawing/2014/main" id="{5082166A-78AC-9EC9-FC09-A31D671CA852}"/>
              </a:ext>
            </a:extLst>
          </p:cNvPr>
          <p:cNvSpPr/>
          <p:nvPr/>
        </p:nvSpPr>
        <p:spPr>
          <a:xfrm>
            <a:off x="6815138" y="4300538"/>
            <a:ext cx="2250281" cy="676433"/>
          </a:xfrm>
          <a:prstGeom prst="rect">
            <a:avLst/>
          </a:prstGeom>
          <a:solidFill>
            <a:srgbClr val="E8E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Driver </a:t>
            </a:r>
            <a:r>
              <a:rPr lang="it-IT" dirty="0" err="1">
                <a:solidFill>
                  <a:schemeClr val="tx1"/>
                </a:solidFill>
              </a:rPr>
              <a:t>sends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result</a:t>
            </a:r>
            <a:r>
              <a:rPr lang="it-IT" dirty="0">
                <a:solidFill>
                  <a:schemeClr val="tx1"/>
                </a:solidFill>
              </a:rPr>
              <a:t> back to the kernel</a:t>
            </a:r>
          </a:p>
        </p:txBody>
      </p:sp>
      <p:cxnSp>
        <p:nvCxnSpPr>
          <p:cNvPr id="22" name="Connettore curvo 21">
            <a:extLst>
              <a:ext uri="{FF2B5EF4-FFF2-40B4-BE49-F238E27FC236}">
                <a16:creationId xmlns:a16="http://schemas.microsoft.com/office/drawing/2014/main" id="{58E051B9-5DD0-39B4-C493-0BEBB3E38CB2}"/>
              </a:ext>
            </a:extLst>
          </p:cNvPr>
          <p:cNvCxnSpPr>
            <a:cxnSpLocks/>
            <a:stCxn id="19" idx="0"/>
          </p:cNvCxnSpPr>
          <p:nvPr/>
        </p:nvCxnSpPr>
        <p:spPr>
          <a:xfrm rot="16200000" flipV="1">
            <a:off x="6381314" y="2741572"/>
            <a:ext cx="422952" cy="2694979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curvo 27">
            <a:extLst>
              <a:ext uri="{FF2B5EF4-FFF2-40B4-BE49-F238E27FC236}">
                <a16:creationId xmlns:a16="http://schemas.microsoft.com/office/drawing/2014/main" id="{DB411E6A-C825-AB33-A1EC-0ED5046A02CD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232799" y="3412356"/>
            <a:ext cx="1532332" cy="329083"/>
          </a:xfrm>
          <a:prstGeom prst="curved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Rettangolo 30">
            <a:extLst>
              <a:ext uri="{FF2B5EF4-FFF2-40B4-BE49-F238E27FC236}">
                <a16:creationId xmlns:a16="http://schemas.microsoft.com/office/drawing/2014/main" id="{084A1ED7-5D31-0377-A052-17C026095D51}"/>
              </a:ext>
            </a:extLst>
          </p:cNvPr>
          <p:cNvSpPr/>
          <p:nvPr/>
        </p:nvSpPr>
        <p:spPr>
          <a:xfrm>
            <a:off x="6765131" y="3074139"/>
            <a:ext cx="2250281" cy="676433"/>
          </a:xfrm>
          <a:prstGeom prst="rect">
            <a:avLst/>
          </a:prstGeom>
          <a:solidFill>
            <a:srgbClr val="E8E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i="1" dirty="0" err="1">
                <a:solidFill>
                  <a:schemeClr val="tx1"/>
                </a:solidFill>
              </a:rPr>
              <a:t>ioctl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returns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requested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value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39" name="Connettore curvo 38">
            <a:extLst>
              <a:ext uri="{FF2B5EF4-FFF2-40B4-BE49-F238E27FC236}">
                <a16:creationId xmlns:a16="http://schemas.microsoft.com/office/drawing/2014/main" id="{32E71CCB-C0AD-D892-D509-039993B326F6}"/>
              </a:ext>
            </a:extLst>
          </p:cNvPr>
          <p:cNvCxnSpPr>
            <a:cxnSpLocks/>
            <a:stCxn id="31" idx="0"/>
          </p:cNvCxnSpPr>
          <p:nvPr/>
        </p:nvCxnSpPr>
        <p:spPr>
          <a:xfrm rot="16200000" flipV="1">
            <a:off x="6496154" y="1680021"/>
            <a:ext cx="143264" cy="2644972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3C536E4D-8B97-1966-3C5C-0AB5DEDF155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91349" y="2643136"/>
            <a:ext cx="321448" cy="2"/>
          </a:xfrm>
          <a:prstGeom prst="curved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96414208-A628-0932-B9FA-07C4352DDABA}"/>
              </a:ext>
            </a:extLst>
          </p:cNvPr>
          <p:cNvSpPr/>
          <p:nvPr/>
        </p:nvSpPr>
        <p:spPr>
          <a:xfrm>
            <a:off x="6815138" y="754392"/>
            <a:ext cx="2250281" cy="676433"/>
          </a:xfrm>
          <a:prstGeom prst="rect">
            <a:avLst/>
          </a:prstGeom>
          <a:solidFill>
            <a:srgbClr val="E8E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Value </a:t>
            </a:r>
            <a:r>
              <a:rPr lang="it-IT" dirty="0" err="1">
                <a:solidFill>
                  <a:schemeClr val="tx1"/>
                </a:solidFill>
              </a:rPr>
              <a:t>is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returned</a:t>
            </a:r>
            <a:r>
              <a:rPr lang="it-IT" dirty="0">
                <a:solidFill>
                  <a:schemeClr val="tx1"/>
                </a:solidFill>
              </a:rPr>
              <a:t> to </a:t>
            </a:r>
            <a:r>
              <a:rPr lang="it-IT" dirty="0" err="1">
                <a:solidFill>
                  <a:schemeClr val="tx1"/>
                </a:solidFill>
              </a:rPr>
              <a:t>userspace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53" name="Connettore curvo 52">
            <a:extLst>
              <a:ext uri="{FF2B5EF4-FFF2-40B4-BE49-F238E27FC236}">
                <a16:creationId xmlns:a16="http://schemas.microsoft.com/office/drawing/2014/main" id="{506911F5-E709-1FE2-DFC5-24D5D14E3697}"/>
              </a:ext>
            </a:extLst>
          </p:cNvPr>
          <p:cNvCxnSpPr>
            <a:cxnSpLocks/>
            <a:endCxn id="50" idx="2"/>
          </p:cNvCxnSpPr>
          <p:nvPr/>
        </p:nvCxnSpPr>
        <p:spPr>
          <a:xfrm flipV="1">
            <a:off x="5232796" y="1430825"/>
            <a:ext cx="2707483" cy="67567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97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31" grpId="0" animBg="1"/>
      <p:bldP spid="50" grpId="0" animBg="1"/>
    </p:bldLst>
  </p:timing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361</TotalTime>
  <Words>1098</Words>
  <Application>Microsoft Office PowerPoint</Application>
  <PresentationFormat>Widescreen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Aptos</vt:lpstr>
      <vt:lpstr>Arial</vt:lpstr>
      <vt:lpstr>Trebuchet MS</vt:lpstr>
      <vt:lpstr>Wingdings 3</vt:lpstr>
      <vt:lpstr>Sfaccettatura</vt:lpstr>
      <vt:lpstr>AXI DMA Driver Test Instructions</vt:lpstr>
      <vt:lpstr>Overview</vt:lpstr>
      <vt:lpstr>Step 1: Set up</vt:lpstr>
      <vt:lpstr>Presentazione standard di PowerPoint</vt:lpstr>
      <vt:lpstr>PuTTY</vt:lpstr>
      <vt:lpstr>Step 2: Kria connection test</vt:lpstr>
      <vt:lpstr>Presentazione standard di PowerPoint</vt:lpstr>
      <vt:lpstr>Step 3: File transfer</vt:lpstr>
      <vt:lpstr>Step 4: Driver test</vt:lpstr>
      <vt:lpstr>Step 4: Driver test</vt:lpstr>
      <vt:lpstr>Step 4: Driver test</vt:lpstr>
      <vt:lpstr>Step 4: Driver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SATTA</dc:creator>
  <cp:lastModifiedBy>GIUSEPPE SATTA</cp:lastModifiedBy>
  <cp:revision>6</cp:revision>
  <dcterms:created xsi:type="dcterms:W3CDTF">2025-10-06T06:54:07Z</dcterms:created>
  <dcterms:modified xsi:type="dcterms:W3CDTF">2025-11-21T12:50:15Z</dcterms:modified>
</cp:coreProperties>
</file>